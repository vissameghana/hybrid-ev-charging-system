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9"/>
  </p:notesMasterIdLst>
  <p:sldIdLst>
    <p:sldId id="256" r:id="rId2"/>
    <p:sldId id="357" r:id="rId3"/>
    <p:sldId id="306" r:id="rId4"/>
    <p:sldId id="333" r:id="rId5"/>
    <p:sldId id="336" r:id="rId6"/>
    <p:sldId id="305" r:id="rId7"/>
    <p:sldId id="307" r:id="rId8"/>
    <p:sldId id="360" r:id="rId9"/>
    <p:sldId id="359" r:id="rId10"/>
    <p:sldId id="372" r:id="rId11"/>
    <p:sldId id="373" r:id="rId12"/>
    <p:sldId id="361" r:id="rId13"/>
    <p:sldId id="363" r:id="rId14"/>
    <p:sldId id="374" r:id="rId15"/>
    <p:sldId id="375" r:id="rId16"/>
    <p:sldId id="358" r:id="rId17"/>
    <p:sldId id="260" r:id="rId18"/>
  </p:sldIdLst>
  <p:sldSz cx="12192000" cy="6858000"/>
  <p:notesSz cx="6858000" cy="9144000"/>
  <p:custShowLst>
    <p:custShow name="Custom Show 1" id="0">
      <p:sldLst>
        <p:sld r:id="rId2"/>
        <p:sld r:id="rId7"/>
      </p:sldLst>
    </p:custShow>
  </p:custShow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99"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huvana kalam" initials="Bk" lastIdx="2" clrIdx="0"/>
  <p:cmAuthor id="2" name="lakshman kumar dangeti" initials="lkd" lastIdx="1" clrIdx="1"/>
  <p:cmAuthor id="3" name="Naga Nishitha Devi Sagiraju" initials="NS" lastIdx="1" clrIdx="2"/>
  <p:cmAuthor id="4" name="Tejaswi_ Manepalli" initials="TM"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88" autoAdjust="0"/>
    <p:restoredTop sz="94260" autoAdjust="0"/>
  </p:normalViewPr>
  <p:slideViewPr>
    <p:cSldViewPr snapToGrid="0" showGuides="1">
      <p:cViewPr varScale="1">
        <p:scale>
          <a:sx n="78" d="100"/>
          <a:sy n="78" d="100"/>
        </p:scale>
        <p:origin x="739" y="58"/>
      </p:cViewPr>
      <p:guideLst>
        <p:guide orient="horz" pos="2199"/>
        <p:guide pos="3840"/>
      </p:guideLst>
    </p:cSldViewPr>
  </p:slideViewPr>
  <p:outlineViewPr>
    <p:cViewPr>
      <p:scale>
        <a:sx n="33" d="100"/>
        <a:sy n="33" d="100"/>
      </p:scale>
      <p:origin x="0" y="0"/>
    </p:cViewPr>
  </p:outlineViewPr>
  <p:notesTextViewPr>
    <p:cViewPr>
      <p:scale>
        <a:sx n="66" d="100"/>
        <a:sy n="66" d="100"/>
      </p:scale>
      <p:origin x="0" y="0"/>
    </p:cViewPr>
  </p:notesTextViewPr>
  <p:sorterViewPr>
    <p:cViewPr>
      <p:scale>
        <a:sx n="125" d="100"/>
        <a:sy n="125"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B474AC-AB36-4D33-9C83-8DD6F939FE02}" type="datetimeFigureOut">
              <a:rPr lang="en-GB" smtClean="0"/>
              <a:t>23/12/2025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042D0E-243A-46A0-8B33-EECECEDED22F}" type="slidenum">
              <a:rPr lang="en-GB" smtClean="0"/>
              <a:t>‹#›</a:t>
            </a:fld>
            <a:endParaRPr lang="en-GB"/>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4042D0E-243A-46A0-8B33-EECECEDED22F}" type="slidenum">
              <a:rPr lang="en-GB" smtClean="0"/>
              <a:t>1</a:t>
            </a:fld>
            <a:endParaRPr lang="en-GB"/>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94042D0E-243A-46A0-8B33-EECECEDED22F}" type="slidenum">
              <a:rPr lang="en-GB" smtClean="0"/>
              <a:t>5</a:t>
            </a:fld>
            <a:endParaRPr lang="en-GB"/>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63717582-EFDE-4A23-8925-74BA9067C902}" type="datetime1">
              <a:rPr lang="en-IN" smtClean="0"/>
              <a:t>23-12-2025</a:t>
            </a:fld>
            <a:endParaRPr lang="en-IN"/>
          </a:p>
        </p:txBody>
      </p:sp>
      <p:sp>
        <p:nvSpPr>
          <p:cNvPr id="5" name="Footer Placeholder 4"/>
          <p:cNvSpPr>
            <a:spLocks noGrp="1"/>
          </p:cNvSpPr>
          <p:nvPr>
            <p:ph type="ftr" sz="quarter" idx="11"/>
          </p:nvPr>
        </p:nvSpPr>
        <p:spPr/>
        <p:txBody>
          <a:bodyPr/>
          <a:lstStyle/>
          <a:p>
            <a:r>
              <a:rPr lang="en-IN"/>
              <a:t>Project Title: </a:t>
            </a:r>
          </a:p>
        </p:txBody>
      </p:sp>
      <p:sp>
        <p:nvSpPr>
          <p:cNvPr id="6" name="Slide Number Placeholder 5"/>
          <p:cNvSpPr>
            <a:spLocks noGrp="1"/>
          </p:cNvSpPr>
          <p:nvPr>
            <p:ph type="sldNum" sz="quarter" idx="12"/>
          </p:nvPr>
        </p:nvSpPr>
        <p:spPr/>
        <p:txBody>
          <a:bodyPr/>
          <a:lstStyle/>
          <a:p>
            <a:fld id="{EE33C336-295B-42A1-80A5-D3AF9E931B69}"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6F75081-9462-4F0B-BF77-3B7C358D3C66}" type="datetime1">
              <a:rPr lang="en-IN" smtClean="0"/>
              <a:t>23-12-2025</a:t>
            </a:fld>
            <a:endParaRPr lang="en-IN"/>
          </a:p>
        </p:txBody>
      </p:sp>
      <p:sp>
        <p:nvSpPr>
          <p:cNvPr id="5" name="Footer Placeholder 4"/>
          <p:cNvSpPr>
            <a:spLocks noGrp="1"/>
          </p:cNvSpPr>
          <p:nvPr>
            <p:ph type="ftr" sz="quarter" idx="11"/>
          </p:nvPr>
        </p:nvSpPr>
        <p:spPr/>
        <p:txBody>
          <a:bodyPr/>
          <a:lstStyle/>
          <a:p>
            <a:r>
              <a:rPr lang="en-IN"/>
              <a:t>Project Title: </a:t>
            </a:r>
          </a:p>
        </p:txBody>
      </p:sp>
      <p:sp>
        <p:nvSpPr>
          <p:cNvPr id="6" name="Slide Number Placeholder 5"/>
          <p:cNvSpPr>
            <a:spLocks noGrp="1"/>
          </p:cNvSpPr>
          <p:nvPr>
            <p:ph type="sldNum" sz="quarter" idx="12"/>
          </p:nvPr>
        </p:nvSpPr>
        <p:spPr/>
        <p:txBody>
          <a:bodyPr/>
          <a:lstStyle/>
          <a:p>
            <a:fld id="{EE33C336-295B-42A1-80A5-D3AF9E931B69}"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F25EA30-D44C-4847-B43A-D2ACE455E9D9}" type="datetime1">
              <a:rPr lang="en-IN" smtClean="0"/>
              <a:t>23-12-2025</a:t>
            </a:fld>
            <a:endParaRPr lang="en-IN"/>
          </a:p>
        </p:txBody>
      </p:sp>
      <p:sp>
        <p:nvSpPr>
          <p:cNvPr id="5" name="Footer Placeholder 4"/>
          <p:cNvSpPr>
            <a:spLocks noGrp="1"/>
          </p:cNvSpPr>
          <p:nvPr>
            <p:ph type="ftr" sz="quarter" idx="11"/>
          </p:nvPr>
        </p:nvSpPr>
        <p:spPr/>
        <p:txBody>
          <a:bodyPr/>
          <a:lstStyle/>
          <a:p>
            <a:r>
              <a:rPr lang="en-IN"/>
              <a:t>Project Title: </a:t>
            </a:r>
          </a:p>
        </p:txBody>
      </p:sp>
      <p:sp>
        <p:nvSpPr>
          <p:cNvPr id="6" name="Slide Number Placeholder 5"/>
          <p:cNvSpPr>
            <a:spLocks noGrp="1"/>
          </p:cNvSpPr>
          <p:nvPr>
            <p:ph type="sldNum" sz="quarter" idx="12"/>
          </p:nvPr>
        </p:nvSpPr>
        <p:spPr/>
        <p:txBody>
          <a:bodyPr/>
          <a:lstStyle/>
          <a:p>
            <a:fld id="{EE33C336-295B-42A1-80A5-D3AF9E931B69}"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4CC0B5FE-5167-4BC0-A401-1C38970B3F13}" type="datetime1">
              <a:rPr lang="en-IN" smtClean="0"/>
              <a:t>23-12-2025</a:t>
            </a:fld>
            <a:endParaRPr lang="en-IN"/>
          </a:p>
        </p:txBody>
      </p:sp>
      <p:sp>
        <p:nvSpPr>
          <p:cNvPr id="6" name="Footer Placeholder 5"/>
          <p:cNvSpPr>
            <a:spLocks noGrp="1"/>
          </p:cNvSpPr>
          <p:nvPr>
            <p:ph type="ftr" sz="quarter" idx="11"/>
          </p:nvPr>
        </p:nvSpPr>
        <p:spPr/>
        <p:txBody>
          <a:bodyPr/>
          <a:lstStyle/>
          <a:p>
            <a:r>
              <a:rPr lang="en-IN"/>
              <a:t>Project Title: </a:t>
            </a:r>
          </a:p>
        </p:txBody>
      </p:sp>
      <p:sp>
        <p:nvSpPr>
          <p:cNvPr id="7" name="Slide Number Placeholder 6"/>
          <p:cNvSpPr>
            <a:spLocks noGrp="1"/>
          </p:cNvSpPr>
          <p:nvPr>
            <p:ph type="sldNum" sz="quarter" idx="12"/>
          </p:nvPr>
        </p:nvSpPr>
        <p:spPr/>
        <p:txBody>
          <a:bodyPr/>
          <a:lstStyle/>
          <a:p>
            <a:fld id="{EE33C336-295B-42A1-80A5-D3AF9E931B69}"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1610878B-355D-4EA7-B944-BE3A725D8876}" type="datetime1">
              <a:rPr lang="en-IN" smtClean="0"/>
              <a:t>23-12-2025</a:t>
            </a:fld>
            <a:endParaRPr lang="en-IN"/>
          </a:p>
        </p:txBody>
      </p:sp>
      <p:sp>
        <p:nvSpPr>
          <p:cNvPr id="8" name="Footer Placeholder 7"/>
          <p:cNvSpPr>
            <a:spLocks noGrp="1"/>
          </p:cNvSpPr>
          <p:nvPr>
            <p:ph type="ftr" sz="quarter" idx="11"/>
          </p:nvPr>
        </p:nvSpPr>
        <p:spPr/>
        <p:txBody>
          <a:bodyPr/>
          <a:lstStyle/>
          <a:p>
            <a:r>
              <a:rPr lang="en-IN"/>
              <a:t>Project Title: </a:t>
            </a:r>
          </a:p>
        </p:txBody>
      </p:sp>
      <p:sp>
        <p:nvSpPr>
          <p:cNvPr id="9" name="Slide Number Placeholder 8"/>
          <p:cNvSpPr>
            <a:spLocks noGrp="1"/>
          </p:cNvSpPr>
          <p:nvPr>
            <p:ph type="sldNum" sz="quarter" idx="12"/>
          </p:nvPr>
        </p:nvSpPr>
        <p:spPr/>
        <p:txBody>
          <a:bodyPr/>
          <a:lstStyle/>
          <a:p>
            <a:fld id="{EE33C336-295B-42A1-80A5-D3AF9E931B69}"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CBBF9FC3-369F-4208-9E90-EA40788FFC1F}" type="datetime1">
              <a:rPr lang="en-IN" smtClean="0"/>
              <a:t>23-12-2025</a:t>
            </a:fld>
            <a:endParaRPr lang="en-IN"/>
          </a:p>
        </p:txBody>
      </p:sp>
      <p:sp>
        <p:nvSpPr>
          <p:cNvPr id="4" name="Footer Placeholder 3"/>
          <p:cNvSpPr>
            <a:spLocks noGrp="1"/>
          </p:cNvSpPr>
          <p:nvPr>
            <p:ph type="ftr" sz="quarter" idx="11"/>
          </p:nvPr>
        </p:nvSpPr>
        <p:spPr/>
        <p:txBody>
          <a:bodyPr/>
          <a:lstStyle/>
          <a:p>
            <a:r>
              <a:rPr lang="en-IN"/>
              <a:t>Project Title: </a:t>
            </a:r>
          </a:p>
        </p:txBody>
      </p:sp>
      <p:sp>
        <p:nvSpPr>
          <p:cNvPr id="5" name="Slide Number Placeholder 4"/>
          <p:cNvSpPr>
            <a:spLocks noGrp="1"/>
          </p:cNvSpPr>
          <p:nvPr>
            <p:ph type="sldNum" sz="quarter" idx="12"/>
          </p:nvPr>
        </p:nvSpPr>
        <p:spPr/>
        <p:txBody>
          <a:bodyPr/>
          <a:lstStyle/>
          <a:p>
            <a:fld id="{EE33C336-295B-42A1-80A5-D3AF9E931B69}"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7E4C0D0-F5DB-476A-8B5C-2409B0CBC3CF}" type="datetime1">
              <a:rPr lang="en-IN" smtClean="0"/>
              <a:t>23-12-2025</a:t>
            </a:fld>
            <a:endParaRPr lang="en-IN"/>
          </a:p>
        </p:txBody>
      </p:sp>
      <p:sp>
        <p:nvSpPr>
          <p:cNvPr id="3" name="Footer Placeholder 2"/>
          <p:cNvSpPr>
            <a:spLocks noGrp="1"/>
          </p:cNvSpPr>
          <p:nvPr>
            <p:ph type="ftr" sz="quarter" idx="11"/>
          </p:nvPr>
        </p:nvSpPr>
        <p:spPr/>
        <p:txBody>
          <a:bodyPr/>
          <a:lstStyle/>
          <a:p>
            <a:r>
              <a:rPr lang="en-IN"/>
              <a:t>Project Title: </a:t>
            </a:r>
          </a:p>
        </p:txBody>
      </p:sp>
      <p:sp>
        <p:nvSpPr>
          <p:cNvPr id="4" name="Slide Number Placeholder 3"/>
          <p:cNvSpPr>
            <a:spLocks noGrp="1"/>
          </p:cNvSpPr>
          <p:nvPr>
            <p:ph type="sldNum" sz="quarter" idx="12"/>
          </p:nvPr>
        </p:nvSpPr>
        <p:spPr/>
        <p:txBody>
          <a:bodyPr/>
          <a:lstStyle/>
          <a:p>
            <a:fld id="{EE33C336-295B-42A1-80A5-D3AF9E931B69}"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6C48029-02BB-4E1B-9FCC-04FE9CDD0025}" type="datetime1">
              <a:rPr lang="en-IN" smtClean="0"/>
              <a:t>23-12-2025</a:t>
            </a:fld>
            <a:endParaRPr lang="en-IN"/>
          </a:p>
        </p:txBody>
      </p:sp>
      <p:sp>
        <p:nvSpPr>
          <p:cNvPr id="6" name="Footer Placeholder 5"/>
          <p:cNvSpPr>
            <a:spLocks noGrp="1"/>
          </p:cNvSpPr>
          <p:nvPr>
            <p:ph type="ftr" sz="quarter" idx="11"/>
          </p:nvPr>
        </p:nvSpPr>
        <p:spPr/>
        <p:txBody>
          <a:bodyPr/>
          <a:lstStyle/>
          <a:p>
            <a:r>
              <a:rPr lang="en-IN"/>
              <a:t>Project Title: </a:t>
            </a:r>
          </a:p>
        </p:txBody>
      </p:sp>
      <p:sp>
        <p:nvSpPr>
          <p:cNvPr id="7" name="Slide Number Placeholder 6"/>
          <p:cNvSpPr>
            <a:spLocks noGrp="1"/>
          </p:cNvSpPr>
          <p:nvPr>
            <p:ph type="sldNum" sz="quarter" idx="12"/>
          </p:nvPr>
        </p:nvSpPr>
        <p:spPr/>
        <p:txBody>
          <a:bodyPr/>
          <a:lstStyle/>
          <a:p>
            <a:fld id="{EE33C336-295B-42A1-80A5-D3AF9E931B69}"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3CC53D9-C1E5-43CD-B2A0-FA52A9159394}" type="datetime1">
              <a:rPr lang="en-IN" smtClean="0"/>
              <a:t>23-12-2025</a:t>
            </a:fld>
            <a:endParaRPr lang="en-IN"/>
          </a:p>
        </p:txBody>
      </p:sp>
      <p:sp>
        <p:nvSpPr>
          <p:cNvPr id="6" name="Footer Placeholder 5"/>
          <p:cNvSpPr>
            <a:spLocks noGrp="1"/>
          </p:cNvSpPr>
          <p:nvPr>
            <p:ph type="ftr" sz="quarter" idx="11"/>
          </p:nvPr>
        </p:nvSpPr>
        <p:spPr/>
        <p:txBody>
          <a:bodyPr/>
          <a:lstStyle/>
          <a:p>
            <a:r>
              <a:rPr lang="en-IN"/>
              <a:t>Project Title: </a:t>
            </a:r>
          </a:p>
        </p:txBody>
      </p:sp>
      <p:sp>
        <p:nvSpPr>
          <p:cNvPr id="7" name="Slide Number Placeholder 6"/>
          <p:cNvSpPr>
            <a:spLocks noGrp="1"/>
          </p:cNvSpPr>
          <p:nvPr>
            <p:ph type="sldNum" sz="quarter" idx="12"/>
          </p:nvPr>
        </p:nvSpPr>
        <p:spPr/>
        <p:txBody>
          <a:bodyPr/>
          <a:lstStyle/>
          <a:p>
            <a:fld id="{EE33C336-295B-42A1-80A5-D3AF9E931B69}"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DA76F87F-A34F-44DA-85C6-554800D4BA46}" type="datetime1">
              <a:rPr lang="en-IN" smtClean="0"/>
              <a:t>23-12-2025</a:t>
            </a:fld>
            <a:endParaRPr lang="en-IN"/>
          </a:p>
        </p:txBody>
      </p:sp>
      <p:sp>
        <p:nvSpPr>
          <p:cNvPr id="5" name="Footer Placeholder 4"/>
          <p:cNvSpPr>
            <a:spLocks noGrp="1"/>
          </p:cNvSpPr>
          <p:nvPr>
            <p:ph type="ftr" sz="quarter" idx="11"/>
          </p:nvPr>
        </p:nvSpPr>
        <p:spPr/>
        <p:txBody>
          <a:bodyPr/>
          <a:lstStyle/>
          <a:p>
            <a:r>
              <a:rPr lang="en-IN"/>
              <a:t>Project Title: </a:t>
            </a:r>
          </a:p>
        </p:txBody>
      </p:sp>
      <p:sp>
        <p:nvSpPr>
          <p:cNvPr id="6" name="Slide Number Placeholder 5"/>
          <p:cNvSpPr>
            <a:spLocks noGrp="1"/>
          </p:cNvSpPr>
          <p:nvPr>
            <p:ph type="sldNum" sz="quarter" idx="12"/>
          </p:nvPr>
        </p:nvSpPr>
        <p:spPr/>
        <p:txBody>
          <a:bodyPr/>
          <a:lstStyle/>
          <a:p>
            <a:fld id="{EE33C336-295B-42A1-80A5-D3AF9E931B69}"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BDA60B0-66FE-473A-B7D7-0B56BA181871}" type="datetime1">
              <a:rPr lang="en-IN" smtClean="0"/>
              <a:t>23-12-2025</a:t>
            </a:fld>
            <a:endParaRPr lang="en-IN"/>
          </a:p>
        </p:txBody>
      </p:sp>
      <p:sp>
        <p:nvSpPr>
          <p:cNvPr id="5" name="Footer Placeholder 4"/>
          <p:cNvSpPr>
            <a:spLocks noGrp="1"/>
          </p:cNvSpPr>
          <p:nvPr>
            <p:ph type="ftr" sz="quarter" idx="11"/>
          </p:nvPr>
        </p:nvSpPr>
        <p:spPr/>
        <p:txBody>
          <a:bodyPr/>
          <a:lstStyle/>
          <a:p>
            <a:r>
              <a:rPr lang="en-IN"/>
              <a:t>Project Title: </a:t>
            </a:r>
          </a:p>
        </p:txBody>
      </p:sp>
      <p:sp>
        <p:nvSpPr>
          <p:cNvPr id="6" name="Slide Number Placeholder 5"/>
          <p:cNvSpPr>
            <a:spLocks noGrp="1"/>
          </p:cNvSpPr>
          <p:nvPr>
            <p:ph type="sldNum" sz="quarter" idx="12"/>
          </p:nvPr>
        </p:nvSpPr>
        <p:spPr/>
        <p:txBody>
          <a:bodyPr/>
          <a:lstStyle/>
          <a:p>
            <a:fld id="{EE33C336-295B-42A1-80A5-D3AF9E931B69}"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11AB6C4-A615-4A7A-9FE4-29F021E5A06D}" type="datetime1">
              <a:rPr lang="en-IN" smtClean="0"/>
              <a:t>23-12-2025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Project Title: </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33C336-295B-42A1-80A5-D3AF9E931B69}"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hyperlink" Target="file:///C:\Users\Dell\Downloads\battery%20charging.mp4" TargetMode="External"/><Relationship Id="rId2" Type="http://schemas.openxmlformats.org/officeDocument/2006/relationships/hyperlink" Target="file:///C:\Users\Dell\Downloads\solar%20charging.mp4" TargetMode="Externa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hyperlink" Target="file:///C:\Users\Dell\Downloads\grid%20charging.mp4" TargetMode="Externa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file:///C:\Users\Dell\Downloads\automatic%20switching%20video.mp4"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46363" y="955965"/>
            <a:ext cx="11554691" cy="523220"/>
          </a:xfrm>
          <a:prstGeom prst="rect">
            <a:avLst/>
          </a:prstGeom>
          <a:noFill/>
        </p:spPr>
        <p:txBody>
          <a:bodyPr wrap="square" rtlCol="0">
            <a:spAutoFit/>
          </a:bodyPr>
          <a:lstStyle/>
          <a:p>
            <a:pPr algn="ctr"/>
            <a:r>
              <a:rPr lang="en-US" sz="2800" b="1" dirty="0">
                <a:latin typeface="Times New Roman" panose="02020603050405020304" pitchFamily="18" charset="0"/>
                <a:cs typeface="Times New Roman" panose="02020603050405020304" pitchFamily="18" charset="0"/>
              </a:rPr>
              <a:t>Hybrid Charging System for Electric Vehicle</a:t>
            </a:r>
            <a:endParaRPr lang="en-IN" sz="2800" dirty="0"/>
          </a:p>
        </p:txBody>
      </p:sp>
      <p:sp>
        <p:nvSpPr>
          <p:cNvPr id="7" name="TextBox 6"/>
          <p:cNvSpPr txBox="1"/>
          <p:nvPr/>
        </p:nvSpPr>
        <p:spPr>
          <a:xfrm>
            <a:off x="6934242" y="4999859"/>
            <a:ext cx="4943489" cy="1015663"/>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Project Associates:</a:t>
            </a:r>
          </a:p>
          <a:p>
            <a:r>
              <a:rPr lang="en-US" dirty="0">
                <a:latin typeface="Times New Roman" panose="02020603050405020304" pitchFamily="18" charset="0"/>
                <a:cs typeface="Times New Roman" panose="02020603050405020304" pitchFamily="18" charset="0"/>
              </a:rPr>
              <a:t>YALLABANDI DIVYANJALI  </a:t>
            </a:r>
            <a:r>
              <a:rPr lang="en-US" sz="2000" dirty="0">
                <a:latin typeface="Times New Roman" panose="02020603050405020304" pitchFamily="18" charset="0"/>
                <a:cs typeface="Times New Roman" panose="02020603050405020304" pitchFamily="18" charset="0"/>
              </a:rPr>
              <a:t>(</a:t>
            </a:r>
            <a:r>
              <a:rPr lang="en-US" altLang="en-US" sz="2000" dirty="0">
                <a:latin typeface="Times New Roman" panose="02020603050405020304" pitchFamily="18" charset="0"/>
                <a:cs typeface="Times New Roman" panose="02020603050405020304" pitchFamily="18" charset="0"/>
              </a:rPr>
              <a:t>23B01A0256</a:t>
            </a:r>
            <a:r>
              <a:rPr lang="en-US" sz="2000" dirty="0">
                <a:latin typeface="Times New Roman" panose="02020603050405020304" pitchFamily="18" charset="0"/>
                <a:cs typeface="Times New Roman" panose="02020603050405020304" pitchFamily="18" charset="0"/>
              </a:rPr>
              <a:t>)</a:t>
            </a:r>
          </a:p>
          <a:p>
            <a:r>
              <a:rPr lang="en-US" sz="2000" dirty="0">
                <a:latin typeface="Times New Roman" panose="02020603050405020304" pitchFamily="18" charset="0"/>
                <a:cs typeface="Times New Roman" panose="02020603050405020304" pitchFamily="18" charset="0"/>
              </a:rPr>
              <a:t>VISSA J S </a:t>
            </a:r>
            <a:r>
              <a:rPr lang="en-US" sz="2000">
                <a:latin typeface="Times New Roman" panose="02020603050405020304" pitchFamily="18" charset="0"/>
                <a:cs typeface="Times New Roman" panose="02020603050405020304" pitchFamily="18" charset="0"/>
              </a:rPr>
              <a:t>MEGHANA         </a:t>
            </a:r>
            <a:r>
              <a:rPr lang="en-US" sz="2000" dirty="0">
                <a:latin typeface="Times New Roman" panose="02020603050405020304" pitchFamily="18" charset="0"/>
                <a:cs typeface="Times New Roman" panose="02020603050405020304" pitchFamily="18" charset="0"/>
              </a:rPr>
              <a:t>(</a:t>
            </a:r>
            <a:r>
              <a:rPr lang="en-US" altLang="en-US" sz="2000" dirty="0">
                <a:latin typeface="Times New Roman" panose="02020603050405020304" pitchFamily="18" charset="0"/>
                <a:cs typeface="Times New Roman" panose="02020603050405020304" pitchFamily="18" charset="0"/>
              </a:rPr>
              <a:t>23B01A0255</a:t>
            </a:r>
            <a:r>
              <a:rPr lang="en-US" sz="2000" dirty="0">
                <a:latin typeface="Times New Roman" panose="02020603050405020304" pitchFamily="18" charset="0"/>
                <a:cs typeface="Times New Roman" panose="02020603050405020304" pitchFamily="18" charset="0"/>
              </a:rPr>
              <a:t>)</a:t>
            </a:r>
          </a:p>
        </p:txBody>
      </p:sp>
      <p:sp>
        <p:nvSpPr>
          <p:cNvPr id="8" name="TextBox 7"/>
          <p:cNvSpPr txBox="1"/>
          <p:nvPr/>
        </p:nvSpPr>
        <p:spPr>
          <a:xfrm>
            <a:off x="471488" y="4661305"/>
            <a:ext cx="3314700" cy="1323439"/>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Project Guide:</a:t>
            </a:r>
          </a:p>
          <a:p>
            <a:pPr>
              <a:spcBef>
                <a:spcPct val="0"/>
              </a:spcBef>
            </a:pPr>
            <a:r>
              <a:rPr lang="en-US" sz="2000" dirty="0">
                <a:latin typeface="Times New Roman" panose="02020603050405020304" pitchFamily="18" charset="0"/>
                <a:cs typeface="Times New Roman" panose="02020603050405020304" pitchFamily="18" charset="0"/>
              </a:rPr>
              <a:t>Dr. Y. T. R. Palleswari </a:t>
            </a:r>
            <a:endParaRPr lang="en-US" altLang="en-US" sz="2000" dirty="0">
              <a:latin typeface="Times New Roman" panose="02020603050405020304" pitchFamily="18" charset="0"/>
              <a:cs typeface="Times New Roman" panose="02020603050405020304" pitchFamily="18" charset="0"/>
            </a:endParaRPr>
          </a:p>
          <a:p>
            <a:pPr eaLnBrk="1" hangingPunct="1">
              <a:lnSpc>
                <a:spcPct val="100000"/>
              </a:lnSpc>
              <a:spcBef>
                <a:spcPct val="0"/>
              </a:spcBef>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Assistant Professor</a:t>
            </a:r>
          </a:p>
          <a:p>
            <a:pPr eaLnBrk="1" hangingPunct="1">
              <a:lnSpc>
                <a:spcPct val="100000"/>
              </a:lnSpc>
              <a:spcBef>
                <a:spcPct val="0"/>
              </a:spcBef>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Department of EEE</a:t>
            </a:r>
          </a:p>
        </p:txBody>
      </p:sp>
      <p:sp>
        <p:nvSpPr>
          <p:cNvPr id="2" name="AutoShape 2"/>
          <p:cNvSpPr>
            <a:spLocks noChangeAspect="1" noChangeArrowheads="1"/>
          </p:cNvSpPr>
          <p:nvPr/>
        </p:nvSpPr>
        <p:spPr bwMode="auto">
          <a:xfrm>
            <a:off x="5060273" y="3276600"/>
            <a:ext cx="3400146" cy="108233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latin typeface="Times New Roman" panose="02020603050405020304" pitchFamily="18" charset="0"/>
              <a:cs typeface="Times New Roman" panose="02020603050405020304" pitchFamily="18" charset="0"/>
            </a:endParaRPr>
          </a:p>
        </p:txBody>
      </p:sp>
      <p:sp>
        <p:nvSpPr>
          <p:cNvPr id="9" name="TextBox 8"/>
          <p:cNvSpPr txBox="1"/>
          <p:nvPr/>
        </p:nvSpPr>
        <p:spPr>
          <a:xfrm>
            <a:off x="4336026" y="343849"/>
            <a:ext cx="3460955" cy="430887"/>
          </a:xfrm>
          <a:prstGeom prst="rect">
            <a:avLst/>
          </a:prstGeom>
          <a:noFill/>
        </p:spPr>
        <p:txBody>
          <a:bodyPr wrap="square" rtlCol="0">
            <a:spAutoFit/>
          </a:bodyPr>
          <a:lstStyle/>
          <a:p>
            <a:pPr algn="ctr"/>
            <a:r>
              <a:rPr lang="en-US" sz="2200" b="1" dirty="0">
                <a:latin typeface="Times New Roman" panose="02020603050405020304" pitchFamily="18" charset="0"/>
                <a:cs typeface="Times New Roman" panose="02020603050405020304" pitchFamily="18" charset="0"/>
              </a:rPr>
              <a:t>Internal Project Review</a:t>
            </a:r>
            <a:endParaRPr lang="en-IN" sz="2200" b="1" dirty="0">
              <a:latin typeface="Times New Roman" panose="02020603050405020304" pitchFamily="18" charset="0"/>
              <a:cs typeface="Times New Roman" panose="02020603050405020304" pitchFamily="18" charset="0"/>
            </a:endParaRPr>
          </a:p>
        </p:txBody>
      </p:sp>
      <p:sp>
        <p:nvSpPr>
          <p:cNvPr id="11" name="Rectangle 10"/>
          <p:cNvSpPr/>
          <p:nvPr/>
        </p:nvSpPr>
        <p:spPr>
          <a:xfrm>
            <a:off x="2200438" y="3222049"/>
            <a:ext cx="7846540" cy="1200329"/>
          </a:xfrm>
          <a:prstGeom prst="rect">
            <a:avLst/>
          </a:prstGeom>
        </p:spPr>
        <p:txBody>
          <a:bodyPr wrap="square">
            <a:spAutoFit/>
          </a:bodyPr>
          <a:lstStyle/>
          <a:p>
            <a:pPr algn="ctr"/>
            <a:r>
              <a:rPr lang="en-US" sz="2400" dirty="0">
                <a:latin typeface="Times New Roman" panose="02020603050405020304" pitchFamily="18" charset="0"/>
                <a:cs typeface="Times New Roman" panose="02020603050405020304" pitchFamily="18" charset="0"/>
              </a:rPr>
              <a:t>Department of Electrical &amp; Electronics Engineering       </a:t>
            </a:r>
          </a:p>
          <a:p>
            <a:pPr algn="ctr"/>
            <a:r>
              <a:rPr lang="en-US" sz="2400" dirty="0">
                <a:latin typeface="Times New Roman" panose="02020603050405020304" pitchFamily="18" charset="0"/>
                <a:cs typeface="Times New Roman" panose="02020603050405020304" pitchFamily="18" charset="0"/>
              </a:rPr>
              <a:t>Shri Vishnu Engineering College For Women</a:t>
            </a:r>
          </a:p>
          <a:p>
            <a:pPr algn="ctr"/>
            <a:r>
              <a:rPr lang="en-US" sz="2400" dirty="0">
                <a:latin typeface="Times New Roman" panose="02020603050405020304" pitchFamily="18" charset="0"/>
                <a:cs typeface="Times New Roman" panose="02020603050405020304" pitchFamily="18" charset="0"/>
              </a:rPr>
              <a:t>(Autonomous)</a:t>
            </a:r>
          </a:p>
        </p:txBody>
      </p:sp>
      <p:sp>
        <p:nvSpPr>
          <p:cNvPr id="12" name="Flowchart: Alternate Process 11"/>
          <p:cNvSpPr/>
          <p:nvPr/>
        </p:nvSpPr>
        <p:spPr>
          <a:xfrm>
            <a:off x="8460419" y="287383"/>
            <a:ext cx="3342267" cy="613954"/>
          </a:xfrm>
          <a:prstGeom prst="flowChartAlternateProcess">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b="1" dirty="0">
                <a:latin typeface="Times New Roman" panose="02020603050405020304" pitchFamily="18" charset="0"/>
                <a:cs typeface="Times New Roman" panose="02020603050405020304" pitchFamily="18" charset="0"/>
              </a:rPr>
              <a:t>Hardware</a:t>
            </a:r>
          </a:p>
        </p:txBody>
      </p:sp>
      <p:pic>
        <p:nvPicPr>
          <p:cNvPr id="4" name="Picture 3"/>
          <p:cNvPicPr>
            <a:picLocks noChangeAspect="1"/>
          </p:cNvPicPr>
          <p:nvPr/>
        </p:nvPicPr>
        <p:blipFill rotWithShape="1">
          <a:blip r:embed="rId3"/>
          <a:srcRect l="2497" t="7490" r="76201" b="9817"/>
          <a:stretch>
            <a:fillRect/>
          </a:stretch>
        </p:blipFill>
        <p:spPr>
          <a:xfrm>
            <a:off x="5313175" y="1709402"/>
            <a:ext cx="1621067" cy="1478944"/>
          </a:xfrm>
          <a:prstGeom prst="rect">
            <a:avLst/>
          </a:prstGeom>
        </p:spPr>
      </p:pic>
      <p:sp>
        <p:nvSpPr>
          <p:cNvPr id="3" name="Slide Number Placeholder 4"/>
          <p:cNvSpPr>
            <a:spLocks noGrp="1"/>
          </p:cNvSpPr>
          <p:nvPr>
            <p:ph type="sldNum" sz="quarter" idx="12"/>
          </p:nvPr>
        </p:nvSpPr>
        <p:spPr>
          <a:xfrm>
            <a:off x="8610600" y="6356350"/>
            <a:ext cx="2743200" cy="365125"/>
          </a:xfrm>
        </p:spPr>
        <p:txBody>
          <a:bodyPr/>
          <a:lstStyle/>
          <a:p>
            <a:fld id="{EE33C336-295B-42A1-80A5-D3AF9E931B69}" type="slidenum">
              <a:rPr lang="en-IN" smtClean="0"/>
              <a:t>1</a:t>
            </a:fld>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28179"/>
          </a:xfrm>
        </p:spPr>
        <p:txBody>
          <a:bodyPr>
            <a:normAutofit/>
          </a:bodyPr>
          <a:lstStyle/>
          <a:p>
            <a:r>
              <a:rPr lang="en-GB" sz="4000" b="1" dirty="0">
                <a:latin typeface="Times New Roman" panose="02020603050405020304" pitchFamily="18" charset="0"/>
                <a:cs typeface="Times New Roman" panose="02020603050405020304" pitchFamily="18" charset="0"/>
              </a:rPr>
              <a:t>Presentation Layout</a:t>
            </a:r>
          </a:p>
        </p:txBody>
      </p:sp>
      <p:sp>
        <p:nvSpPr>
          <p:cNvPr id="3" name="Content Placeholder 2"/>
          <p:cNvSpPr>
            <a:spLocks noGrp="1"/>
          </p:cNvSpPr>
          <p:nvPr>
            <p:ph idx="1"/>
          </p:nvPr>
        </p:nvSpPr>
        <p:spPr>
          <a:xfrm>
            <a:off x="838200" y="1202635"/>
            <a:ext cx="7940040" cy="4974328"/>
          </a:xfrm>
        </p:spPr>
        <p:txBody>
          <a:bodyPr>
            <a:normAutofit fontScale="62500" lnSpcReduction="20000"/>
          </a:bodyPr>
          <a:lstStyle/>
          <a:p>
            <a:pPr>
              <a:lnSpc>
                <a:spcPct val="150000"/>
              </a:lnSpc>
            </a:pPr>
            <a:r>
              <a:rPr lang="en-US" sz="3200" dirty="0">
                <a:latin typeface="Times New Roman" panose="02020603050405020304" pitchFamily="18" charset="0"/>
                <a:cs typeface="Times New Roman" panose="02020603050405020304" pitchFamily="18" charset="0"/>
              </a:rPr>
              <a:t>Abstract</a:t>
            </a:r>
          </a:p>
          <a:p>
            <a:pPr>
              <a:lnSpc>
                <a:spcPct val="150000"/>
              </a:lnSpc>
            </a:pPr>
            <a:r>
              <a:rPr lang="en-US" sz="3200" dirty="0">
                <a:latin typeface="Times New Roman" panose="02020603050405020304" pitchFamily="18" charset="0"/>
                <a:cs typeface="Times New Roman" panose="02020603050405020304" pitchFamily="18" charset="0"/>
              </a:rPr>
              <a:t>Introduction</a:t>
            </a:r>
          </a:p>
          <a:p>
            <a:pPr>
              <a:lnSpc>
                <a:spcPct val="150000"/>
              </a:lnSpc>
            </a:pPr>
            <a:r>
              <a:rPr lang="en-US" sz="3200" dirty="0">
                <a:latin typeface="Times New Roman" panose="02020603050405020304" pitchFamily="18" charset="0"/>
                <a:cs typeface="Times New Roman" panose="02020603050405020304" pitchFamily="18" charset="0"/>
              </a:rPr>
              <a:t>Problem Statement</a:t>
            </a:r>
          </a:p>
          <a:p>
            <a:pPr>
              <a:lnSpc>
                <a:spcPct val="150000"/>
              </a:lnSpc>
            </a:pPr>
            <a:r>
              <a:rPr lang="en-US" sz="3200" dirty="0">
                <a:latin typeface="Times New Roman" panose="02020603050405020304" pitchFamily="18" charset="0"/>
                <a:cs typeface="Times New Roman" panose="02020603050405020304" pitchFamily="18" charset="0"/>
              </a:rPr>
              <a:t>Objective of the Project</a:t>
            </a:r>
          </a:p>
          <a:p>
            <a:pPr>
              <a:lnSpc>
                <a:spcPct val="150000"/>
              </a:lnSpc>
            </a:pPr>
            <a:r>
              <a:rPr lang="en-US" sz="3200" dirty="0">
                <a:latin typeface="Times New Roman" panose="02020603050405020304" pitchFamily="18" charset="0"/>
                <a:cs typeface="Times New Roman" panose="02020603050405020304" pitchFamily="18" charset="0"/>
              </a:rPr>
              <a:t>Block Diagram</a:t>
            </a:r>
          </a:p>
          <a:p>
            <a:pPr>
              <a:lnSpc>
                <a:spcPct val="150000"/>
              </a:lnSpc>
            </a:pPr>
            <a:r>
              <a:rPr lang="en-US" sz="3200" dirty="0">
                <a:latin typeface="Times New Roman" panose="02020603050405020304" pitchFamily="18" charset="0"/>
                <a:cs typeface="Times New Roman" panose="02020603050405020304" pitchFamily="18" charset="0"/>
              </a:rPr>
              <a:t>Components</a:t>
            </a:r>
          </a:p>
          <a:p>
            <a:pPr>
              <a:lnSpc>
                <a:spcPct val="150000"/>
              </a:lnSpc>
            </a:pPr>
            <a:r>
              <a:rPr lang="en-US" sz="3200" dirty="0">
                <a:latin typeface="Times New Roman" panose="02020603050405020304" pitchFamily="18" charset="0"/>
                <a:cs typeface="Times New Roman" panose="02020603050405020304" pitchFamily="18" charset="0"/>
              </a:rPr>
              <a:t>Working of the hybrid system</a:t>
            </a:r>
          </a:p>
          <a:p>
            <a:pPr>
              <a:lnSpc>
                <a:spcPct val="150000"/>
              </a:lnSpc>
            </a:pPr>
            <a:r>
              <a:rPr lang="en-US" sz="3200" dirty="0">
                <a:latin typeface="Times New Roman" panose="02020603050405020304" pitchFamily="18" charset="0"/>
                <a:cs typeface="Times New Roman" panose="02020603050405020304" pitchFamily="18" charset="0"/>
              </a:rPr>
              <a:t>Results and Conclusion</a:t>
            </a:r>
          </a:p>
          <a:p>
            <a:pPr>
              <a:lnSpc>
                <a:spcPct val="150000"/>
              </a:lnSpc>
            </a:pPr>
            <a:r>
              <a:rPr lang="en-US" sz="3200" dirty="0">
                <a:latin typeface="Times New Roman" panose="02020603050405020304" pitchFamily="18" charset="0"/>
                <a:cs typeface="Times New Roman" panose="02020603050405020304" pitchFamily="18" charset="0"/>
              </a:rPr>
              <a:t>References</a:t>
            </a:r>
          </a:p>
          <a:p>
            <a:endParaRPr lang="en-GB" dirty="0"/>
          </a:p>
        </p:txBody>
      </p:sp>
      <p:sp>
        <p:nvSpPr>
          <p:cNvPr id="5" name="Slide Number Placeholder 4"/>
          <p:cNvSpPr>
            <a:spLocks noGrp="1"/>
          </p:cNvSpPr>
          <p:nvPr>
            <p:ph type="sldNum" sz="quarter" idx="12"/>
          </p:nvPr>
        </p:nvSpPr>
        <p:spPr/>
        <p:txBody>
          <a:bodyPr/>
          <a:lstStyle/>
          <a:p>
            <a:fld id="{EE33C336-295B-42A1-80A5-D3AF9E931B69}" type="slidenum">
              <a:rPr lang="en-IN" smtClean="0"/>
              <a:t>2</a:t>
            </a:fld>
            <a:endParaRPr lang="en-IN"/>
          </a:p>
        </p:txBody>
      </p:sp>
      <p:pic>
        <p:nvPicPr>
          <p:cNvPr id="9" name="Picture 8"/>
          <p:cNvPicPr>
            <a:picLocks noChangeAspect="1"/>
          </p:cNvPicPr>
          <p:nvPr/>
        </p:nvPicPr>
        <p:blipFill>
          <a:blip r:embed="rId2"/>
          <a:stretch>
            <a:fillRect/>
          </a:stretch>
        </p:blipFill>
        <p:spPr>
          <a:xfrm>
            <a:off x="8285922" y="22260"/>
            <a:ext cx="3810000" cy="12001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19863"/>
          </a:xfrm>
        </p:spPr>
        <p:txBody>
          <a:bodyPr>
            <a:normAutofit/>
          </a:bodyPr>
          <a:lstStyle/>
          <a:p>
            <a:r>
              <a:rPr lang="en-US" sz="4000" b="1" dirty="0">
                <a:latin typeface="Times New Roman" panose="02020603050405020304" pitchFamily="18" charset="0"/>
                <a:cs typeface="Times New Roman" panose="02020603050405020304" pitchFamily="18" charset="0"/>
              </a:rPr>
              <a:t>Abstract</a:t>
            </a:r>
            <a:endParaRPr lang="en-IN" sz="40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184988"/>
            <a:ext cx="10515600" cy="5171362"/>
          </a:xfrm>
        </p:spPr>
        <p:txBody>
          <a:bodyPr>
            <a:noAutofit/>
          </a:bodyPr>
          <a:lstStyle/>
          <a:p>
            <a:pPr marL="0" indent="0" algn="just">
              <a:lnSpc>
                <a:spcPct val="150000"/>
              </a:lnSpc>
              <a:buNone/>
            </a:pPr>
            <a:r>
              <a:rPr lang="en-US" sz="2200" dirty="0">
                <a:latin typeface="Times New Roman" panose="02020603050405020304" pitchFamily="18" charset="0"/>
                <a:cs typeface="Times New Roman" panose="02020603050405020304" pitchFamily="18" charset="0"/>
              </a:rPr>
              <a:t>Electric Vehicles (EVs) have emerged as a key solution for reducing carbon emissions and promoting sustainable transportation. This project focuses on developing a hybrid EV charging system that leverages solar energy as its primary source. During periods of sufficient sunlight, the vehicle's battery is charged directly from solar panels. In scenarios where solar energy is insufficient or unavailable, the system seamlessly switches to grid power, enabling battery charging through a single-phase electrical supply. This dual-mode charging mechanism, controlled by a microcontroller, ensures reliable and continuous operation while minimizing dependency on fossil fuels. By integrating renewable energy with conventional grid power, the project contributes to enhanced environmental sustainability and energy efficiency.</a:t>
            </a:r>
            <a:endParaRPr lang="en-IN" sz="2200"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EE33C336-295B-42A1-80A5-D3AF9E931B69}" type="slidenum">
              <a:rPr lang="en-IN" smtClean="0">
                <a:latin typeface="Times New Roman" panose="02020603050405020304" pitchFamily="18" charset="0"/>
                <a:cs typeface="Times New Roman" panose="02020603050405020304" pitchFamily="18" charset="0"/>
              </a:rPr>
              <a:t>3</a:t>
            </a:fld>
            <a:endParaRPr lang="en-IN">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2"/>
          <a:stretch>
            <a:fillRect/>
          </a:stretch>
        </p:blipFill>
        <p:spPr>
          <a:xfrm>
            <a:off x="8382000" y="0"/>
            <a:ext cx="3810000" cy="99183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304800"/>
            <a:ext cx="10170795" cy="640080"/>
          </a:xfrm>
        </p:spPr>
        <p:txBody>
          <a:bodyPr>
            <a:normAutofit/>
          </a:bodyPr>
          <a:lstStyle/>
          <a:p>
            <a:r>
              <a:rPr lang="en-US" sz="4000" b="1" dirty="0">
                <a:latin typeface="Times New Roman" panose="02020603050405020304" pitchFamily="18" charset="0"/>
                <a:cs typeface="Times New Roman" panose="02020603050405020304" pitchFamily="18" charset="0"/>
              </a:rPr>
              <a:t>Introduction</a:t>
            </a:r>
          </a:p>
        </p:txBody>
      </p:sp>
      <p:sp>
        <p:nvSpPr>
          <p:cNvPr id="3" name="Content Placeholder 2"/>
          <p:cNvSpPr>
            <a:spLocks noGrp="1"/>
          </p:cNvSpPr>
          <p:nvPr>
            <p:ph idx="1"/>
          </p:nvPr>
        </p:nvSpPr>
        <p:spPr>
          <a:xfrm>
            <a:off x="838200" y="1162877"/>
            <a:ext cx="10515600" cy="5193473"/>
          </a:xfrm>
        </p:spPr>
        <p:txBody>
          <a:bodyPr>
            <a:noAutofit/>
          </a:bodyPr>
          <a:lstStyle/>
          <a:p>
            <a:pPr algn="just">
              <a:lnSpc>
                <a:spcPct val="100000"/>
              </a:lnSpc>
              <a:buFont typeface="Wingdings" panose="05000000000000000000" pitchFamily="2" charset="2"/>
              <a:buChar char="Ø"/>
            </a:pPr>
            <a:r>
              <a:rPr lang="en-GB" sz="2400" dirty="0">
                <a:latin typeface="Times New Roman" panose="02020603050405020304" pitchFamily="18" charset="0"/>
                <a:cs typeface="Times New Roman" panose="02020603050405020304" pitchFamily="18" charset="0"/>
              </a:rPr>
              <a:t>The integration of renewable energy sources into transportation systems has gained significant attention due to concerns about climate change and the environmental impact of traditional fossil fuel-powered vehicles.</a:t>
            </a:r>
          </a:p>
          <a:p>
            <a:pPr algn="just">
              <a:lnSpc>
                <a:spcPct val="100000"/>
              </a:lnSpc>
              <a:buFont typeface="Wingdings" panose="05000000000000000000" pitchFamily="2" charset="2"/>
              <a:buChar char="Ø"/>
            </a:pPr>
            <a:r>
              <a:rPr lang="en-GB" sz="2400" dirty="0">
                <a:latin typeface="Times New Roman" panose="02020603050405020304" pitchFamily="18" charset="0"/>
                <a:cs typeface="Times New Roman" panose="02020603050405020304" pitchFamily="18" charset="0"/>
              </a:rPr>
              <a:t>The widespread use of conventional fuels, such as gasoline and diesel, for transportation contributes significantly to air pollution and greenhouse gas emissions.</a:t>
            </a:r>
          </a:p>
          <a:p>
            <a:pPr algn="just">
              <a:lnSpc>
                <a:spcPct val="100000"/>
              </a:lnSpc>
              <a:buFont typeface="Wingdings" panose="05000000000000000000" pitchFamily="2" charset="2"/>
              <a:buChar char="Ø"/>
            </a:pPr>
            <a:r>
              <a:rPr lang="en-GB" sz="2400" dirty="0">
                <a:latin typeface="Times New Roman" panose="02020603050405020304" pitchFamily="18" charset="0"/>
                <a:cs typeface="Times New Roman" panose="02020603050405020304" pitchFamily="18" charset="0"/>
              </a:rPr>
              <a:t>One of the best solutions to the problems caused by conventional fuels is the adoption of electric vehicles (EVs) powered by renewable energy sources like solar power.</a:t>
            </a:r>
          </a:p>
          <a:p>
            <a:pPr algn="just">
              <a:lnSpc>
                <a:spcPct val="10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This project develops a hybrid charging system with automatic switching, using solar power as the primary source and grid power as a backup, controlled by a microcontroller</a:t>
            </a:r>
            <a:r>
              <a:rPr lang="en-GB" sz="2000" dirty="0"/>
              <a:t>.</a:t>
            </a:r>
            <a:endParaRPr lang="en-IN" sz="2000" dirty="0"/>
          </a:p>
          <a:p>
            <a:pPr algn="just">
              <a:lnSpc>
                <a:spcPct val="150000"/>
              </a:lnSpc>
              <a:buFont typeface="Wingdings" panose="05000000000000000000" pitchFamily="2" charset="2"/>
              <a:buChar char="Ø"/>
            </a:pPr>
            <a:endParaRPr lang="en-IN" sz="2000" dirty="0">
              <a:effectLst/>
              <a:latin typeface="Times New Roman" panose="02020603050405020304" pitchFamily="18" charset="0"/>
              <a:ea typeface="Calibri" panose="020F0502020204030204" pitchFamily="34" charset="0"/>
            </a:endParaRPr>
          </a:p>
        </p:txBody>
      </p:sp>
      <p:sp>
        <p:nvSpPr>
          <p:cNvPr id="5" name="Slide Number Placeholder 4"/>
          <p:cNvSpPr>
            <a:spLocks noGrp="1"/>
          </p:cNvSpPr>
          <p:nvPr>
            <p:ph type="sldNum" sz="quarter" idx="12"/>
          </p:nvPr>
        </p:nvSpPr>
        <p:spPr/>
        <p:txBody>
          <a:bodyPr/>
          <a:lstStyle/>
          <a:p>
            <a:fld id="{EE33C336-295B-42A1-80A5-D3AF9E931B69}" type="slidenum">
              <a:rPr lang="en-IN" smtClean="0"/>
              <a:t>4</a:t>
            </a:fld>
            <a:endParaRPr lang="en-IN"/>
          </a:p>
        </p:txBody>
      </p:sp>
      <p:pic>
        <p:nvPicPr>
          <p:cNvPr id="7" name="Picture 6"/>
          <p:cNvPicPr>
            <a:picLocks noChangeAspect="1"/>
          </p:cNvPicPr>
          <p:nvPr/>
        </p:nvPicPr>
        <p:blipFill>
          <a:blip r:embed="rId2"/>
          <a:stretch>
            <a:fillRect/>
          </a:stretch>
        </p:blipFill>
        <p:spPr>
          <a:xfrm>
            <a:off x="8382000" y="24765"/>
            <a:ext cx="3810000" cy="12001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6750" y="448751"/>
            <a:ext cx="10515600" cy="590839"/>
          </a:xfrm>
        </p:spPr>
        <p:txBody>
          <a:bodyPr>
            <a:noAutofit/>
          </a:bodyPr>
          <a:lstStyle/>
          <a:p>
            <a:r>
              <a:rPr lang="en-US" sz="4000" b="1" dirty="0">
                <a:latin typeface="Times New Roman" panose="02020603050405020304" pitchFamily="18" charset="0"/>
                <a:cs typeface="Times New Roman" panose="02020603050405020304" pitchFamily="18" charset="0"/>
              </a:rPr>
              <a:t>Problem Statement</a:t>
            </a:r>
            <a:endParaRPr lang="en-IN" sz="40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71537" y="1254751"/>
            <a:ext cx="10106025" cy="5154498"/>
          </a:xfrm>
        </p:spPr>
        <p:txBody>
          <a:bodyPr>
            <a:normAutofit/>
          </a:bodyPr>
          <a:lstStyle/>
          <a:p>
            <a:pPr algn="just">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algn="just">
              <a:lnSpc>
                <a:spcPct val="10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ever-growing environmental concerns caused due to fossil fuel depletion and greenhouse gas (GHG) emissions has paved way to consider Solar Electric Vehicles. Reducing dependency on fossil fuels can help mitigate environmental degradation.</a:t>
            </a:r>
          </a:p>
          <a:p>
            <a:pPr algn="just">
              <a:lnSpc>
                <a:spcPct val="100000"/>
              </a:lnSpc>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But the intermittent nature of solar energy causes problems with the available power for the solar electric vehicles. Thus, to avoid environmental pollution solar powered vehicles are required and for their continuous operation, conventional power is used from the single-phase supply.</a:t>
            </a:r>
          </a:p>
        </p:txBody>
      </p:sp>
      <p:sp>
        <p:nvSpPr>
          <p:cNvPr id="5" name="Slide Number Placeholder 4"/>
          <p:cNvSpPr>
            <a:spLocks noGrp="1"/>
          </p:cNvSpPr>
          <p:nvPr>
            <p:ph type="sldNum" sz="quarter" idx="12"/>
          </p:nvPr>
        </p:nvSpPr>
        <p:spPr/>
        <p:txBody>
          <a:bodyPr/>
          <a:lstStyle/>
          <a:p>
            <a:fld id="{EE33C336-295B-42A1-80A5-D3AF9E931B69}" type="slidenum">
              <a:rPr lang="en-IN" smtClean="0"/>
              <a:t>5</a:t>
            </a:fld>
            <a:endParaRPr lang="en-IN"/>
          </a:p>
        </p:txBody>
      </p:sp>
      <p:pic>
        <p:nvPicPr>
          <p:cNvPr id="7" name="Picture 6"/>
          <p:cNvPicPr>
            <a:picLocks noChangeAspect="1"/>
          </p:cNvPicPr>
          <p:nvPr/>
        </p:nvPicPr>
        <p:blipFill>
          <a:blip r:embed="rId3"/>
          <a:stretch>
            <a:fillRect/>
          </a:stretch>
        </p:blipFill>
        <p:spPr>
          <a:xfrm>
            <a:off x="8382000" y="68309"/>
            <a:ext cx="3810000" cy="12001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9271" y="274637"/>
            <a:ext cx="10515600" cy="1325563"/>
          </a:xfrm>
        </p:spPr>
        <p:txBody>
          <a:bodyPr>
            <a:normAutofit/>
          </a:bodyPr>
          <a:lstStyle/>
          <a:p>
            <a:r>
              <a:rPr lang="en-US" sz="4000" b="1" dirty="0">
                <a:latin typeface="Times New Roman" panose="02020603050405020304" pitchFamily="18" charset="0"/>
                <a:cs typeface="Times New Roman" panose="02020603050405020304" pitchFamily="18" charset="0"/>
              </a:rPr>
              <a:t>Objective of the Project</a:t>
            </a:r>
            <a:endParaRPr lang="en-IN" sz="40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09955" y="1688465"/>
            <a:ext cx="10045065" cy="3947795"/>
          </a:xfrm>
        </p:spPr>
        <p:txBody>
          <a:bodyPr>
            <a:noAutofit/>
          </a:bodyPr>
          <a:lstStyle/>
          <a:p>
            <a:pPr algn="just">
              <a:lnSpc>
                <a:spcPct val="10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a:t>
            </a:r>
            <a:r>
              <a:rPr lang="en-IN" altLang="en-US" sz="2400" dirty="0">
                <a:latin typeface="Times New Roman" panose="02020603050405020304" pitchFamily="18" charset="0"/>
                <a:cs typeface="Times New Roman" panose="02020603050405020304" pitchFamily="18" charset="0"/>
              </a:rPr>
              <a:t>main objective</a:t>
            </a:r>
            <a:r>
              <a:rPr lang="en-US" sz="2400" dirty="0">
                <a:latin typeface="Times New Roman" panose="02020603050405020304" pitchFamily="18" charset="0"/>
                <a:cs typeface="Times New Roman" panose="02020603050405020304" pitchFamily="18" charset="0"/>
              </a:rPr>
              <a:t> of the project is to propel the vehicle sustainably by harnessing solar renewable energy, independent on conventional fuels and promoting eco-friendly transportation</a:t>
            </a:r>
            <a:r>
              <a:rPr lang="en-IN" altLang="en-US" sz="2400"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a:t>
            </a:r>
          </a:p>
          <a:p>
            <a:pPr algn="just">
              <a:lnSpc>
                <a:spcPct val="10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To</a:t>
            </a:r>
            <a:r>
              <a:rPr lang="en-IN" altLang="en-US" sz="2400" dirty="0">
                <a:latin typeface="Times New Roman" panose="02020603050405020304" pitchFamily="18" charset="0"/>
                <a:cs typeface="Times New Roman" panose="02020603050405020304" pitchFamily="18" charset="0"/>
              </a:rPr>
              <a:t> ensure continuous vehicle operation by seamlessly integrating a grid system as a backup power source when solar energy is unavailable, enhancing reliability and adaptability.</a:t>
            </a:r>
          </a:p>
          <a:p>
            <a:pPr>
              <a:lnSpc>
                <a:spcPct val="10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Provide seamless switching between modes to ensure consistent and reliable vehicle performance under varying operational and environmental conditions.</a:t>
            </a:r>
          </a:p>
        </p:txBody>
      </p:sp>
      <p:sp>
        <p:nvSpPr>
          <p:cNvPr id="5" name="Slide Number Placeholder 4"/>
          <p:cNvSpPr>
            <a:spLocks noGrp="1"/>
          </p:cNvSpPr>
          <p:nvPr>
            <p:ph type="sldNum" sz="quarter" idx="12"/>
          </p:nvPr>
        </p:nvSpPr>
        <p:spPr/>
        <p:txBody>
          <a:bodyPr/>
          <a:lstStyle/>
          <a:p>
            <a:fld id="{EE33C336-295B-42A1-80A5-D3AF9E931B69}" type="slidenum">
              <a:rPr lang="en-IN" smtClean="0">
                <a:latin typeface="Times New Roman" panose="02020603050405020304" pitchFamily="18" charset="0"/>
                <a:cs typeface="Times New Roman" panose="02020603050405020304" pitchFamily="18" charset="0"/>
              </a:rPr>
              <a:t>6</a:t>
            </a:fld>
            <a:endParaRPr lang="en-IN">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2"/>
          <a:stretch>
            <a:fillRect/>
          </a:stretch>
        </p:blipFill>
        <p:spPr>
          <a:xfrm>
            <a:off x="8382000" y="0"/>
            <a:ext cx="3810000" cy="12001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16162"/>
          </a:xfrm>
        </p:spPr>
        <p:txBody>
          <a:bodyPr>
            <a:normAutofit/>
          </a:bodyPr>
          <a:lstStyle/>
          <a:p>
            <a:r>
              <a:rPr lang="en-US" sz="4000" b="1" dirty="0">
                <a:solidFill>
                  <a:srgbClr val="FF0000"/>
                </a:solidFill>
                <a:latin typeface="Times New Roman" panose="02020603050405020304" pitchFamily="18" charset="0"/>
                <a:cs typeface="Times New Roman" panose="02020603050405020304" pitchFamily="18" charset="0"/>
              </a:rPr>
              <a:t>Block Diagram</a:t>
            </a:r>
            <a:endParaRPr lang="en-IN" sz="4000" dirty="0">
              <a:solidFill>
                <a:srgbClr val="FF0000"/>
              </a:solidFill>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EE33C336-295B-42A1-80A5-D3AF9E931B69}" type="slidenum">
              <a:rPr lang="en-IN" smtClean="0">
                <a:latin typeface="Times New Roman" panose="02020603050405020304" pitchFamily="18" charset="0"/>
                <a:cs typeface="Times New Roman" panose="02020603050405020304" pitchFamily="18" charset="0"/>
              </a:rPr>
              <a:t>7</a:t>
            </a:fld>
            <a:endParaRPr lang="en-IN" dirty="0">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5793" y="1073151"/>
            <a:ext cx="11068050" cy="5150608"/>
          </a:xfrm>
          <a:prstGeom prst="rect">
            <a:avLst/>
          </a:prstGeom>
        </p:spPr>
      </p:pic>
      <p:pic>
        <p:nvPicPr>
          <p:cNvPr id="6" name="Picture 5"/>
          <p:cNvPicPr>
            <a:picLocks noChangeAspect="1"/>
          </p:cNvPicPr>
          <p:nvPr/>
        </p:nvPicPr>
        <p:blipFill>
          <a:blip r:embed="rId3"/>
          <a:stretch>
            <a:fillRect/>
          </a:stretch>
        </p:blipFill>
        <p:spPr>
          <a:xfrm>
            <a:off x="8382000" y="0"/>
            <a:ext cx="3810000" cy="99183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5428" y="-57770"/>
            <a:ext cx="10515600" cy="1325563"/>
          </a:xfrm>
        </p:spPr>
        <p:txBody>
          <a:bodyPr/>
          <a:lstStyle/>
          <a:p>
            <a:r>
              <a:rPr lang="en-GB" sz="4000" b="1" dirty="0">
                <a:latin typeface="Times New Roman" panose="02020603050405020304" pitchFamily="18" charset="0"/>
                <a:cs typeface="Times New Roman" panose="02020603050405020304" pitchFamily="18" charset="0"/>
              </a:rPr>
              <a:t>Components</a:t>
            </a:r>
            <a:r>
              <a:rPr lang="en-GB" dirty="0"/>
              <a:t> </a:t>
            </a:r>
            <a:endParaRPr lang="en-IN" dirty="0"/>
          </a:p>
        </p:txBody>
      </p:sp>
      <p:sp>
        <p:nvSpPr>
          <p:cNvPr id="6" name="Slide Number Placeholder 5"/>
          <p:cNvSpPr>
            <a:spLocks noGrp="1"/>
          </p:cNvSpPr>
          <p:nvPr>
            <p:ph type="sldNum" sz="quarter" idx="12"/>
          </p:nvPr>
        </p:nvSpPr>
        <p:spPr/>
        <p:txBody>
          <a:bodyPr/>
          <a:lstStyle/>
          <a:p>
            <a:fld id="{EE33C336-295B-42A1-80A5-D3AF9E931B69}" type="slidenum">
              <a:rPr lang="en-IN" smtClean="0"/>
              <a:t>8</a:t>
            </a:fld>
            <a:endParaRPr lang="en-IN"/>
          </a:p>
        </p:txBody>
      </p:sp>
      <p:pic>
        <p:nvPicPr>
          <p:cNvPr id="7" name="Picture 6"/>
          <p:cNvPicPr>
            <a:picLocks noChangeAspect="1"/>
          </p:cNvPicPr>
          <p:nvPr/>
        </p:nvPicPr>
        <p:blipFill>
          <a:blip r:embed="rId2"/>
          <a:stretch>
            <a:fillRect/>
          </a:stretch>
        </p:blipFill>
        <p:spPr>
          <a:xfrm>
            <a:off x="8382000" y="0"/>
            <a:ext cx="3810000" cy="991835"/>
          </a:xfrm>
          <a:prstGeom prst="rect">
            <a:avLst/>
          </a:prstGeom>
        </p:spPr>
      </p:pic>
      <p:graphicFrame>
        <p:nvGraphicFramePr>
          <p:cNvPr id="8" name="Table 7"/>
          <p:cNvGraphicFramePr>
            <a:graphicFrameLocks noGrp="1"/>
          </p:cNvGraphicFramePr>
          <p:nvPr/>
        </p:nvGraphicFramePr>
        <p:xfrm>
          <a:off x="1192844" y="985087"/>
          <a:ext cx="9710056" cy="5608320"/>
        </p:xfrm>
        <a:graphic>
          <a:graphicData uri="http://schemas.openxmlformats.org/drawingml/2006/table">
            <a:tbl>
              <a:tblPr firstRow="1" bandRow="1">
                <a:tableStyleId>{5C22544A-7EE6-4342-B048-85BDC9FD1C3A}</a:tableStyleId>
              </a:tblPr>
              <a:tblGrid>
                <a:gridCol w="3236686">
                  <a:extLst>
                    <a:ext uri="{9D8B030D-6E8A-4147-A177-3AD203B41FA5}">
                      <a16:colId xmlns:a16="http://schemas.microsoft.com/office/drawing/2014/main" val="20000"/>
                    </a:ext>
                  </a:extLst>
                </a:gridCol>
                <a:gridCol w="3797845">
                  <a:extLst>
                    <a:ext uri="{9D8B030D-6E8A-4147-A177-3AD203B41FA5}">
                      <a16:colId xmlns:a16="http://schemas.microsoft.com/office/drawing/2014/main" val="20001"/>
                    </a:ext>
                  </a:extLst>
                </a:gridCol>
                <a:gridCol w="2675525">
                  <a:extLst>
                    <a:ext uri="{9D8B030D-6E8A-4147-A177-3AD203B41FA5}">
                      <a16:colId xmlns:a16="http://schemas.microsoft.com/office/drawing/2014/main" val="20002"/>
                    </a:ext>
                  </a:extLst>
                </a:gridCol>
              </a:tblGrid>
              <a:tr h="260632">
                <a:tc>
                  <a:txBody>
                    <a:bodyPr/>
                    <a:lstStyle/>
                    <a:p>
                      <a:pPr algn="ctr"/>
                      <a:r>
                        <a:rPr lang="en-US" sz="1600" b="1" dirty="0"/>
                        <a:t>Components</a:t>
                      </a:r>
                    </a:p>
                  </a:txBody>
                  <a:tcPr/>
                </a:tc>
                <a:tc>
                  <a:txBody>
                    <a:bodyPr/>
                    <a:lstStyle/>
                    <a:p>
                      <a:pPr algn="ctr"/>
                      <a:r>
                        <a:rPr lang="en-US" sz="1600" b="1" dirty="0"/>
                        <a:t>Specifications</a:t>
                      </a:r>
                    </a:p>
                  </a:txBody>
                  <a:tcPr/>
                </a:tc>
                <a:tc>
                  <a:txBody>
                    <a:bodyPr/>
                    <a:lstStyle/>
                    <a:p>
                      <a:pPr algn="ctr"/>
                      <a:r>
                        <a:rPr lang="en-US" sz="1600" b="1" dirty="0"/>
                        <a:t>Cost</a:t>
                      </a:r>
                    </a:p>
                  </a:txBody>
                  <a:tcPr/>
                </a:tc>
                <a:extLst>
                  <a:ext uri="{0D108BD9-81ED-4DB2-BD59-A6C34878D82A}">
                    <a16:rowId xmlns:a16="http://schemas.microsoft.com/office/drawing/2014/main" val="10000"/>
                  </a:ext>
                </a:extLst>
              </a:tr>
              <a:tr h="260632">
                <a:tc>
                  <a:txBody>
                    <a:bodyPr/>
                    <a:lstStyle/>
                    <a:p>
                      <a:pPr algn="ctr"/>
                      <a:r>
                        <a:rPr lang="en-US" sz="1600" b="0" dirty="0"/>
                        <a:t>Solar Pannel</a:t>
                      </a:r>
                    </a:p>
                  </a:txBody>
                  <a:tcPr/>
                </a:tc>
                <a:tc>
                  <a:txBody>
                    <a:bodyPr/>
                    <a:lstStyle/>
                    <a:p>
                      <a:pPr algn="ctr"/>
                      <a:r>
                        <a:rPr lang="en-US" sz="1600" b="0" dirty="0"/>
                        <a:t>12 Volts, 5 Watts</a:t>
                      </a:r>
                    </a:p>
                  </a:txBody>
                  <a:tcPr/>
                </a:tc>
                <a:tc>
                  <a:txBody>
                    <a:bodyPr/>
                    <a:lstStyle/>
                    <a:p>
                      <a:pPr algn="ctr"/>
                      <a:r>
                        <a:rPr lang="en-US" sz="1600" b="0" dirty="0"/>
                        <a:t>550</a:t>
                      </a:r>
                    </a:p>
                  </a:txBody>
                  <a:tcPr/>
                </a:tc>
                <a:extLst>
                  <a:ext uri="{0D108BD9-81ED-4DB2-BD59-A6C34878D82A}">
                    <a16:rowId xmlns:a16="http://schemas.microsoft.com/office/drawing/2014/main" val="10001"/>
                  </a:ext>
                </a:extLst>
              </a:tr>
              <a:tr h="260632">
                <a:tc>
                  <a:txBody>
                    <a:bodyPr/>
                    <a:lstStyle/>
                    <a:p>
                      <a:pPr algn="ctr"/>
                      <a:r>
                        <a:rPr lang="en-US" sz="1600" b="0" dirty="0"/>
                        <a:t>Battery</a:t>
                      </a:r>
                    </a:p>
                  </a:txBody>
                  <a:tcPr/>
                </a:tc>
                <a:tc>
                  <a:txBody>
                    <a:bodyPr/>
                    <a:lstStyle/>
                    <a:p>
                      <a:pPr algn="ctr"/>
                      <a:r>
                        <a:rPr lang="en-US" sz="1600" b="0" dirty="0"/>
                        <a:t>12 Volts, 5Ah</a:t>
                      </a:r>
                    </a:p>
                  </a:txBody>
                  <a:tcPr/>
                </a:tc>
                <a:tc>
                  <a:txBody>
                    <a:bodyPr/>
                    <a:lstStyle/>
                    <a:p>
                      <a:pPr algn="ctr"/>
                      <a:r>
                        <a:rPr lang="en-US" sz="1600" b="0" dirty="0"/>
                        <a:t>1500</a:t>
                      </a:r>
                    </a:p>
                  </a:txBody>
                  <a:tcPr/>
                </a:tc>
                <a:extLst>
                  <a:ext uri="{0D108BD9-81ED-4DB2-BD59-A6C34878D82A}">
                    <a16:rowId xmlns:a16="http://schemas.microsoft.com/office/drawing/2014/main" val="10002"/>
                  </a:ext>
                </a:extLst>
              </a:tr>
              <a:tr h="291744">
                <a:tc>
                  <a:txBody>
                    <a:bodyPr/>
                    <a:lstStyle/>
                    <a:p>
                      <a:pPr algn="ctr"/>
                      <a:r>
                        <a:rPr lang="en-US" sz="1600" b="0" dirty="0"/>
                        <a:t>Adapter</a:t>
                      </a:r>
                    </a:p>
                  </a:txBody>
                  <a:tcPr/>
                </a:tc>
                <a:tc>
                  <a:txBody>
                    <a:bodyPr/>
                    <a:lstStyle/>
                    <a:p>
                      <a:pPr algn="ctr"/>
                      <a:r>
                        <a:rPr lang="en-US" sz="1600" b="0" dirty="0"/>
                        <a:t>Input: 230V AC , Output: 15V DC, 2 Amps</a:t>
                      </a:r>
                    </a:p>
                  </a:txBody>
                  <a:tcPr/>
                </a:tc>
                <a:tc>
                  <a:txBody>
                    <a:bodyPr/>
                    <a:lstStyle/>
                    <a:p>
                      <a:pPr algn="ctr"/>
                      <a:r>
                        <a:rPr lang="en-US" sz="1600" b="0" dirty="0"/>
                        <a:t>320</a:t>
                      </a:r>
                    </a:p>
                  </a:txBody>
                  <a:tcPr/>
                </a:tc>
                <a:extLst>
                  <a:ext uri="{0D108BD9-81ED-4DB2-BD59-A6C34878D82A}">
                    <a16:rowId xmlns:a16="http://schemas.microsoft.com/office/drawing/2014/main" val="10003"/>
                  </a:ext>
                </a:extLst>
              </a:tr>
              <a:tr h="260632">
                <a:tc>
                  <a:txBody>
                    <a:bodyPr/>
                    <a:lstStyle/>
                    <a:p>
                      <a:pPr algn="ctr"/>
                      <a:r>
                        <a:rPr lang="en-US" sz="1600" b="0" dirty="0"/>
                        <a:t>DC Motors</a:t>
                      </a:r>
                    </a:p>
                  </a:txBody>
                  <a:tcPr/>
                </a:tc>
                <a:tc>
                  <a:txBody>
                    <a:bodyPr/>
                    <a:lstStyle/>
                    <a:p>
                      <a:pPr algn="ctr"/>
                      <a:r>
                        <a:rPr lang="en-US" sz="1600" b="0" dirty="0"/>
                        <a:t>12 Volts</a:t>
                      </a:r>
                    </a:p>
                  </a:txBody>
                  <a:tcPr/>
                </a:tc>
                <a:tc>
                  <a:txBody>
                    <a:bodyPr/>
                    <a:lstStyle/>
                    <a:p>
                      <a:pPr algn="ctr"/>
                      <a:r>
                        <a:rPr lang="en-US" sz="1600" b="0" dirty="0"/>
                        <a:t>300</a:t>
                      </a:r>
                    </a:p>
                  </a:txBody>
                  <a:tcPr/>
                </a:tc>
                <a:extLst>
                  <a:ext uri="{0D108BD9-81ED-4DB2-BD59-A6C34878D82A}">
                    <a16:rowId xmlns:a16="http://schemas.microsoft.com/office/drawing/2014/main" val="10004"/>
                  </a:ext>
                </a:extLst>
              </a:tr>
              <a:tr h="277723">
                <a:tc>
                  <a:txBody>
                    <a:bodyPr/>
                    <a:lstStyle/>
                    <a:p>
                      <a:pPr algn="ctr"/>
                      <a:r>
                        <a:rPr lang="en-US" sz="1600" b="0" dirty="0"/>
                        <a:t>Buck Converter (Lm2596)</a:t>
                      </a:r>
                    </a:p>
                  </a:txBody>
                  <a:tcPr/>
                </a:tc>
                <a:tc>
                  <a:txBody>
                    <a:bodyPr/>
                    <a:lstStyle/>
                    <a:p>
                      <a:pPr algn="ctr"/>
                      <a:r>
                        <a:rPr lang="en-US" sz="1600" b="0" dirty="0"/>
                        <a:t>Input: 12V DC, Output: 5V DC</a:t>
                      </a:r>
                    </a:p>
                  </a:txBody>
                  <a:tcPr/>
                </a:tc>
                <a:tc>
                  <a:txBody>
                    <a:bodyPr/>
                    <a:lstStyle/>
                    <a:p>
                      <a:pPr algn="ctr"/>
                      <a:r>
                        <a:rPr lang="en-US" sz="1600" b="0" dirty="0"/>
                        <a:t>240</a:t>
                      </a:r>
                    </a:p>
                  </a:txBody>
                  <a:tcPr/>
                </a:tc>
                <a:extLst>
                  <a:ext uri="{0D108BD9-81ED-4DB2-BD59-A6C34878D82A}">
                    <a16:rowId xmlns:a16="http://schemas.microsoft.com/office/drawing/2014/main" val="10005"/>
                  </a:ext>
                </a:extLst>
              </a:tr>
              <a:tr h="260632">
                <a:tc>
                  <a:txBody>
                    <a:bodyPr/>
                    <a:lstStyle/>
                    <a:p>
                      <a:pPr algn="ctr"/>
                      <a:r>
                        <a:rPr lang="en-US" sz="1600" b="0" dirty="0"/>
                        <a:t>Arduino UNO</a:t>
                      </a:r>
                    </a:p>
                  </a:txBody>
                  <a:tcPr/>
                </a:tc>
                <a:tc>
                  <a:txBody>
                    <a:bodyPr/>
                    <a:lstStyle/>
                    <a:p>
                      <a:pPr algn="ctr"/>
                      <a:r>
                        <a:rPr lang="en-US" sz="1600" b="0" dirty="0"/>
                        <a:t>5 Volts</a:t>
                      </a:r>
                    </a:p>
                  </a:txBody>
                  <a:tcPr/>
                </a:tc>
                <a:tc>
                  <a:txBody>
                    <a:bodyPr/>
                    <a:lstStyle/>
                    <a:p>
                      <a:pPr algn="ctr"/>
                      <a:r>
                        <a:rPr lang="en-US" sz="1600" b="0" dirty="0"/>
                        <a:t>550</a:t>
                      </a:r>
                    </a:p>
                  </a:txBody>
                  <a:tcPr/>
                </a:tc>
                <a:extLst>
                  <a:ext uri="{0D108BD9-81ED-4DB2-BD59-A6C34878D82A}">
                    <a16:rowId xmlns:a16="http://schemas.microsoft.com/office/drawing/2014/main" val="10006"/>
                  </a:ext>
                </a:extLst>
              </a:tr>
              <a:tr h="306878">
                <a:tc>
                  <a:txBody>
                    <a:bodyPr/>
                    <a:lstStyle/>
                    <a:p>
                      <a:pPr algn="ctr"/>
                      <a:r>
                        <a:rPr lang="en-US" sz="1600" b="0" dirty="0"/>
                        <a:t>Motor Driver (L298N)</a:t>
                      </a:r>
                    </a:p>
                  </a:txBody>
                  <a:tcPr/>
                </a:tc>
                <a:tc>
                  <a:txBody>
                    <a:bodyPr/>
                    <a:lstStyle/>
                    <a:p>
                      <a:pPr algn="ctr"/>
                      <a:r>
                        <a:rPr lang="en-US" sz="1600" b="0" dirty="0"/>
                        <a:t>Logic Voltage : 5V, Driver Voltage : (5 – 35 V), 2 Amps</a:t>
                      </a:r>
                    </a:p>
                  </a:txBody>
                  <a:tcPr/>
                </a:tc>
                <a:tc>
                  <a:txBody>
                    <a:bodyPr/>
                    <a:lstStyle/>
                    <a:p>
                      <a:pPr algn="ctr"/>
                      <a:r>
                        <a:rPr lang="en-US" sz="1600" b="0" dirty="0"/>
                        <a:t>180</a:t>
                      </a:r>
                    </a:p>
                  </a:txBody>
                  <a:tcPr/>
                </a:tc>
                <a:extLst>
                  <a:ext uri="{0D108BD9-81ED-4DB2-BD59-A6C34878D82A}">
                    <a16:rowId xmlns:a16="http://schemas.microsoft.com/office/drawing/2014/main" val="10007"/>
                  </a:ext>
                </a:extLst>
              </a:tr>
              <a:tr h="260632">
                <a:tc>
                  <a:txBody>
                    <a:bodyPr/>
                    <a:lstStyle/>
                    <a:p>
                      <a:pPr algn="ctr"/>
                      <a:r>
                        <a:rPr lang="en-US" sz="1600" b="0" dirty="0"/>
                        <a:t>DC Voltage Sensors</a:t>
                      </a:r>
                    </a:p>
                  </a:txBody>
                  <a:tcPr/>
                </a:tc>
                <a:tc>
                  <a:txBody>
                    <a:bodyPr/>
                    <a:lstStyle/>
                    <a:p>
                      <a:pPr algn="ctr"/>
                      <a:r>
                        <a:rPr lang="en-US" sz="1600" b="0" dirty="0"/>
                        <a:t> (0 - 25) Volts</a:t>
                      </a:r>
                    </a:p>
                  </a:txBody>
                  <a:tcPr/>
                </a:tc>
                <a:tc>
                  <a:txBody>
                    <a:bodyPr/>
                    <a:lstStyle/>
                    <a:p>
                      <a:pPr algn="ctr"/>
                      <a:r>
                        <a:rPr lang="en-US" sz="1600" b="0" dirty="0"/>
                        <a:t>300</a:t>
                      </a:r>
                    </a:p>
                  </a:txBody>
                  <a:tcPr/>
                </a:tc>
                <a:extLst>
                  <a:ext uri="{0D108BD9-81ED-4DB2-BD59-A6C34878D82A}">
                    <a16:rowId xmlns:a16="http://schemas.microsoft.com/office/drawing/2014/main" val="10008"/>
                  </a:ext>
                </a:extLst>
              </a:tr>
              <a:tr h="260632">
                <a:tc>
                  <a:txBody>
                    <a:bodyPr/>
                    <a:lstStyle/>
                    <a:p>
                      <a:pPr algn="ctr"/>
                      <a:r>
                        <a:rPr lang="en-US" sz="1600" b="0" dirty="0"/>
                        <a:t>16/2 LCD Display &amp; I2C Module</a:t>
                      </a:r>
                    </a:p>
                  </a:txBody>
                  <a:tcPr/>
                </a:tc>
                <a:tc>
                  <a:txBody>
                    <a:bodyPr/>
                    <a:lstStyle/>
                    <a:p>
                      <a:pPr algn="ctr"/>
                      <a:r>
                        <a:rPr lang="en-US" sz="1600" b="0" dirty="0"/>
                        <a:t>5 Volts</a:t>
                      </a:r>
                    </a:p>
                  </a:txBody>
                  <a:tcPr/>
                </a:tc>
                <a:tc>
                  <a:txBody>
                    <a:bodyPr/>
                    <a:lstStyle/>
                    <a:p>
                      <a:pPr algn="ctr"/>
                      <a:r>
                        <a:rPr lang="en-US" sz="1600" b="0" dirty="0"/>
                        <a:t>300</a:t>
                      </a:r>
                    </a:p>
                  </a:txBody>
                  <a:tcPr/>
                </a:tc>
                <a:extLst>
                  <a:ext uri="{0D108BD9-81ED-4DB2-BD59-A6C34878D82A}">
                    <a16:rowId xmlns:a16="http://schemas.microsoft.com/office/drawing/2014/main" val="10009"/>
                  </a:ext>
                </a:extLst>
              </a:tr>
              <a:tr h="260632">
                <a:tc>
                  <a:txBody>
                    <a:bodyPr/>
                    <a:lstStyle/>
                    <a:p>
                      <a:pPr algn="ctr"/>
                      <a:r>
                        <a:rPr lang="en-US" sz="1600" b="0" dirty="0"/>
                        <a:t>Bluetooth Module</a:t>
                      </a:r>
                    </a:p>
                  </a:txBody>
                  <a:tcPr/>
                </a:tc>
                <a:tc>
                  <a:txBody>
                    <a:bodyPr/>
                    <a:lstStyle/>
                    <a:p>
                      <a:pPr algn="ctr"/>
                      <a:r>
                        <a:rPr lang="en-US" sz="1600" b="0" dirty="0"/>
                        <a:t>3.3 Volts</a:t>
                      </a:r>
                    </a:p>
                  </a:txBody>
                  <a:tcPr/>
                </a:tc>
                <a:tc>
                  <a:txBody>
                    <a:bodyPr/>
                    <a:lstStyle/>
                    <a:p>
                      <a:pPr algn="ctr"/>
                      <a:r>
                        <a:rPr lang="en-US" sz="1600" b="0" dirty="0"/>
                        <a:t>219</a:t>
                      </a:r>
                    </a:p>
                  </a:txBody>
                  <a:tcPr/>
                </a:tc>
                <a:extLst>
                  <a:ext uri="{0D108BD9-81ED-4DB2-BD59-A6C34878D82A}">
                    <a16:rowId xmlns:a16="http://schemas.microsoft.com/office/drawing/2014/main" val="10010"/>
                  </a:ext>
                </a:extLst>
              </a:tr>
              <a:tr h="260632">
                <a:tc>
                  <a:txBody>
                    <a:bodyPr/>
                    <a:lstStyle/>
                    <a:p>
                      <a:pPr algn="ctr"/>
                      <a:r>
                        <a:rPr lang="en-US" sz="1600" b="0" dirty="0"/>
                        <a:t>4 Channel Relay</a:t>
                      </a:r>
                    </a:p>
                  </a:txBody>
                  <a:tcPr/>
                </a:tc>
                <a:tc>
                  <a:txBody>
                    <a:bodyPr/>
                    <a:lstStyle/>
                    <a:p>
                      <a:pPr algn="ctr"/>
                      <a:r>
                        <a:rPr lang="en-US" sz="1600" b="0" dirty="0"/>
                        <a:t>5 Volts,</a:t>
                      </a:r>
                    </a:p>
                  </a:txBody>
                  <a:tcPr/>
                </a:tc>
                <a:tc>
                  <a:txBody>
                    <a:bodyPr/>
                    <a:lstStyle/>
                    <a:p>
                      <a:pPr algn="ctr"/>
                      <a:r>
                        <a:rPr lang="en-US" sz="1600" b="0" dirty="0"/>
                        <a:t>250</a:t>
                      </a:r>
                    </a:p>
                  </a:txBody>
                  <a:tcPr/>
                </a:tc>
                <a:extLst>
                  <a:ext uri="{0D108BD9-81ED-4DB2-BD59-A6C34878D82A}">
                    <a16:rowId xmlns:a16="http://schemas.microsoft.com/office/drawing/2014/main" val="10011"/>
                  </a:ext>
                </a:extLst>
              </a:tr>
              <a:tr h="260632">
                <a:tc>
                  <a:txBody>
                    <a:bodyPr/>
                    <a:lstStyle/>
                    <a:p>
                      <a:pPr algn="ctr"/>
                      <a:r>
                        <a:rPr lang="en-US" sz="1600" b="0" dirty="0"/>
                        <a:t>Diodes</a:t>
                      </a:r>
                    </a:p>
                  </a:txBody>
                  <a:tcPr/>
                </a:tc>
                <a:tc>
                  <a:txBody>
                    <a:bodyPr/>
                    <a:lstStyle/>
                    <a:p>
                      <a:pPr algn="ctr"/>
                      <a:endParaRPr lang="en-US" sz="1600" b="0" dirty="0"/>
                    </a:p>
                  </a:txBody>
                  <a:tcPr/>
                </a:tc>
                <a:tc>
                  <a:txBody>
                    <a:bodyPr/>
                    <a:lstStyle/>
                    <a:p>
                      <a:pPr algn="ctr"/>
                      <a:r>
                        <a:rPr lang="en-US" sz="1600" b="0" dirty="0"/>
                        <a:t>20</a:t>
                      </a:r>
                    </a:p>
                  </a:txBody>
                  <a:tcPr/>
                </a:tc>
                <a:extLst>
                  <a:ext uri="{0D108BD9-81ED-4DB2-BD59-A6C34878D82A}">
                    <a16:rowId xmlns:a16="http://schemas.microsoft.com/office/drawing/2014/main" val="10012"/>
                  </a:ext>
                </a:extLst>
              </a:tr>
              <a:tr h="260632">
                <a:tc>
                  <a:txBody>
                    <a:bodyPr/>
                    <a:lstStyle/>
                    <a:p>
                      <a:pPr algn="ctr"/>
                      <a:r>
                        <a:rPr lang="en-US" sz="1600" b="0" dirty="0"/>
                        <a:t>Switch (SPDT)</a:t>
                      </a:r>
                    </a:p>
                  </a:txBody>
                  <a:tcPr/>
                </a:tc>
                <a:tc>
                  <a:txBody>
                    <a:bodyPr/>
                    <a:lstStyle/>
                    <a:p>
                      <a:pPr algn="ctr"/>
                      <a:r>
                        <a:rPr lang="en-US" sz="1600" b="0" dirty="0"/>
                        <a:t>-</a:t>
                      </a:r>
                    </a:p>
                  </a:txBody>
                  <a:tcPr/>
                </a:tc>
                <a:tc>
                  <a:txBody>
                    <a:bodyPr/>
                    <a:lstStyle/>
                    <a:p>
                      <a:pPr algn="ctr"/>
                      <a:r>
                        <a:rPr lang="en-US" sz="1600" b="0" dirty="0"/>
                        <a:t>20</a:t>
                      </a:r>
                    </a:p>
                  </a:txBody>
                  <a:tcPr/>
                </a:tc>
                <a:extLst>
                  <a:ext uri="{0D108BD9-81ED-4DB2-BD59-A6C34878D82A}">
                    <a16:rowId xmlns:a16="http://schemas.microsoft.com/office/drawing/2014/main" val="10013"/>
                  </a:ext>
                </a:extLst>
              </a:tr>
              <a:tr h="260632">
                <a:tc>
                  <a:txBody>
                    <a:bodyPr/>
                    <a:lstStyle/>
                    <a:p>
                      <a:pPr algn="ctr"/>
                      <a:r>
                        <a:rPr lang="en-US" sz="1600" b="0" dirty="0"/>
                        <a:t>Wheels</a:t>
                      </a:r>
                    </a:p>
                  </a:txBody>
                  <a:tcPr/>
                </a:tc>
                <a:tc>
                  <a:txBody>
                    <a:bodyPr/>
                    <a:lstStyle/>
                    <a:p>
                      <a:pPr algn="ctr"/>
                      <a:r>
                        <a:rPr lang="en-US" sz="1600" b="0" dirty="0"/>
                        <a:t>-</a:t>
                      </a:r>
                    </a:p>
                  </a:txBody>
                  <a:tcPr/>
                </a:tc>
                <a:tc>
                  <a:txBody>
                    <a:bodyPr/>
                    <a:lstStyle/>
                    <a:p>
                      <a:pPr algn="ctr"/>
                      <a:r>
                        <a:rPr lang="en-US" sz="1600" b="0" dirty="0"/>
                        <a:t>60</a:t>
                      </a:r>
                    </a:p>
                  </a:txBody>
                  <a:tcPr/>
                </a:tc>
                <a:extLst>
                  <a:ext uri="{0D108BD9-81ED-4DB2-BD59-A6C34878D82A}">
                    <a16:rowId xmlns:a16="http://schemas.microsoft.com/office/drawing/2014/main" val="10014"/>
                  </a:ext>
                </a:extLst>
              </a:tr>
              <a:tr h="260632">
                <a:tc>
                  <a:txBody>
                    <a:bodyPr/>
                    <a:lstStyle/>
                    <a:p>
                      <a:pPr algn="ctr"/>
                      <a:r>
                        <a:rPr lang="en-US" sz="1600" b="1" dirty="0"/>
                        <a:t>Total</a:t>
                      </a:r>
                    </a:p>
                  </a:txBody>
                  <a:tcPr/>
                </a:tc>
                <a:tc>
                  <a:txBody>
                    <a:bodyPr/>
                    <a:lstStyle/>
                    <a:p>
                      <a:pPr algn="ctr"/>
                      <a:r>
                        <a:rPr lang="en-US" sz="1600" b="1" dirty="0"/>
                        <a:t>-</a:t>
                      </a:r>
                    </a:p>
                  </a:txBody>
                  <a:tcPr/>
                </a:tc>
                <a:tc>
                  <a:txBody>
                    <a:bodyPr/>
                    <a:lstStyle/>
                    <a:p>
                      <a:pPr algn="ctr"/>
                      <a:r>
                        <a:rPr lang="en-US" sz="1600" b="1" dirty="0"/>
                        <a:t>4809/-</a:t>
                      </a:r>
                    </a:p>
                  </a:txBody>
                  <a:tcPr/>
                </a:tc>
                <a:extLst>
                  <a:ext uri="{0D108BD9-81ED-4DB2-BD59-A6C34878D82A}">
                    <a16:rowId xmlns:a16="http://schemas.microsoft.com/office/drawing/2014/main" val="10015"/>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0060" y="306641"/>
            <a:ext cx="10515600" cy="737534"/>
          </a:xfrm>
        </p:spPr>
        <p:txBody>
          <a:bodyPr>
            <a:normAutofit/>
          </a:bodyPr>
          <a:lstStyle/>
          <a:p>
            <a:r>
              <a:rPr lang="en-US" sz="3200" b="1" dirty="0">
                <a:latin typeface="Times New Roman" panose="02020603050405020304" pitchFamily="18" charset="0"/>
                <a:cs typeface="Times New Roman" panose="02020603050405020304" pitchFamily="18" charset="0"/>
              </a:rPr>
              <a:t>Working of Hybrid System</a:t>
            </a:r>
            <a:endParaRPr lang="en-IN" sz="3200" dirty="0"/>
          </a:p>
        </p:txBody>
      </p:sp>
      <p:sp>
        <p:nvSpPr>
          <p:cNvPr id="5" name="Slide Number Placeholder 4"/>
          <p:cNvSpPr>
            <a:spLocks noGrp="1"/>
          </p:cNvSpPr>
          <p:nvPr>
            <p:ph type="sldNum" sz="quarter" idx="12"/>
          </p:nvPr>
        </p:nvSpPr>
        <p:spPr>
          <a:xfrm>
            <a:off x="8610600" y="6492875"/>
            <a:ext cx="2743200" cy="365125"/>
          </a:xfrm>
        </p:spPr>
        <p:txBody>
          <a:bodyPr/>
          <a:lstStyle/>
          <a:p>
            <a:fld id="{EE33C336-295B-42A1-80A5-D3AF9E931B69}" type="slidenum">
              <a:rPr lang="en-IN" smtClean="0"/>
              <a:t>9</a:t>
            </a:fld>
            <a:endParaRPr lang="en-IN"/>
          </a:p>
        </p:txBody>
      </p:sp>
      <p:pic>
        <p:nvPicPr>
          <p:cNvPr id="7" name="Picture 6"/>
          <p:cNvPicPr>
            <a:picLocks noChangeAspect="1"/>
          </p:cNvPicPr>
          <p:nvPr/>
        </p:nvPicPr>
        <p:blipFill>
          <a:blip r:embed="rId2"/>
          <a:stretch>
            <a:fillRect/>
          </a:stretch>
        </p:blipFill>
        <p:spPr>
          <a:xfrm>
            <a:off x="8382000" y="0"/>
            <a:ext cx="3810000" cy="1200150"/>
          </a:xfrm>
          <a:prstGeom prst="rect">
            <a:avLst/>
          </a:prstGeom>
        </p:spPr>
      </p:pic>
      <p:sp>
        <p:nvSpPr>
          <p:cNvPr id="3" name="TextBox 2"/>
          <p:cNvSpPr txBox="1"/>
          <p:nvPr/>
        </p:nvSpPr>
        <p:spPr>
          <a:xfrm>
            <a:off x="550061" y="1145214"/>
            <a:ext cx="11291138" cy="1200329"/>
          </a:xfrm>
          <a:prstGeom prst="rect">
            <a:avLst/>
          </a:prstGeom>
          <a:noFill/>
        </p:spPr>
        <p:txBody>
          <a:bodyPr wrap="square" rtlCol="0">
            <a:spAutoFit/>
          </a:bodyPr>
          <a:lstStyle/>
          <a:p>
            <a:pPr marL="342900" indent="-34290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Developed a rear-wheel vehicle </a:t>
            </a:r>
          </a:p>
          <a:p>
            <a:pPr algn="just"/>
            <a:r>
              <a:rPr lang="en-US" sz="2400" dirty="0">
                <a:latin typeface="Times New Roman" panose="02020603050405020304" pitchFamily="18" charset="0"/>
                <a:cs typeface="Times New Roman" panose="02020603050405020304" pitchFamily="18" charset="0"/>
              </a:rPr>
              <a:t>Completed the prototype of the vehicle, which is constructed by using 4 pillar pipes connected to the base and solar panel of the vehicle</a:t>
            </a:r>
          </a:p>
        </p:txBody>
      </p:sp>
      <p:pic>
        <p:nvPicPr>
          <p:cNvPr id="6" name="Picture 5"/>
          <p:cNvPicPr preferRelativeResize="0"/>
          <p:nvPr/>
        </p:nvPicPr>
        <p:blipFill>
          <a:blip r:embed="rId3">
            <a:extLst>
              <a:ext uri="{28A0092B-C50C-407E-A947-70E740481C1C}">
                <a14:useLocalDpi xmlns:a14="http://schemas.microsoft.com/office/drawing/2010/main" val="0"/>
              </a:ext>
            </a:extLst>
          </a:blip>
          <a:stretch>
            <a:fillRect/>
          </a:stretch>
        </p:blipFill>
        <p:spPr>
          <a:xfrm>
            <a:off x="550060" y="2633196"/>
            <a:ext cx="5486400" cy="3657600"/>
          </a:xfrm>
          <a:prstGeom prst="rect">
            <a:avLst/>
          </a:prstGeom>
        </p:spPr>
      </p:pic>
      <p:pic>
        <p:nvPicPr>
          <p:cNvPr id="8" name="Picture 7"/>
          <p:cNvPicPr preferRelativeResize="0"/>
          <p:nvPr/>
        </p:nvPicPr>
        <p:blipFill>
          <a:blip r:embed="rId4">
            <a:extLst>
              <a:ext uri="{28A0092B-C50C-407E-A947-70E740481C1C}">
                <a14:useLocalDpi xmlns:a14="http://schemas.microsoft.com/office/drawing/2010/main" val="0"/>
              </a:ext>
            </a:extLst>
          </a:blip>
          <a:stretch>
            <a:fillRect/>
          </a:stretch>
        </p:blipFill>
        <p:spPr>
          <a:xfrm>
            <a:off x="6354799" y="2633196"/>
            <a:ext cx="5486400" cy="36576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74406" y="1200150"/>
            <a:ext cx="10515600" cy="4911090"/>
          </a:xfrm>
        </p:spPr>
        <p:txBody>
          <a:bodyPr/>
          <a:lstStyle/>
          <a:p>
            <a:pPr>
              <a:buFont typeface="Wingdings" panose="05000000000000000000" charset="0"/>
              <a:buChar char="Ø"/>
            </a:pPr>
            <a:r>
              <a:rPr lang="en-IN" altLang="en-US" b="1" dirty="0">
                <a:latin typeface="Times New Roman" panose="02020603050405020304" pitchFamily="18" charset="0"/>
                <a:cs typeface="Times New Roman" panose="02020603050405020304" pitchFamily="18" charset="0"/>
                <a:sym typeface="+mn-ea"/>
              </a:rPr>
              <a:t>Battery is charged by using solar power</a:t>
            </a:r>
            <a:endParaRPr lang="en-IN" altLang="en-US" b="1" dirty="0"/>
          </a:p>
          <a:p>
            <a:pPr marL="0" indent="0" algn="just">
              <a:lnSpc>
                <a:spcPct val="100000"/>
              </a:lnSpc>
              <a:buFont typeface="Wingdings" panose="05000000000000000000" charset="0"/>
              <a:buNone/>
            </a:pPr>
            <a:r>
              <a:rPr lang="en-US" altLang="en-US" sz="2400" dirty="0">
                <a:latin typeface="Times New Roman" panose="02020603050405020304" pitchFamily="18" charset="0"/>
                <a:cs typeface="Times New Roman" panose="02020603050405020304" pitchFamily="18" charset="0"/>
                <a:sym typeface="+mn-ea"/>
              </a:rPr>
              <a:t>When solar energy is available, it charges the battery through a solar panel</a:t>
            </a:r>
            <a:r>
              <a:rPr lang="en-IN" altLang="en-US" sz="2400" dirty="0">
                <a:latin typeface="Times New Roman" panose="02020603050405020304" pitchFamily="18" charset="0"/>
                <a:cs typeface="Times New Roman" panose="02020603050405020304" pitchFamily="18" charset="0"/>
                <a:sym typeface="+mn-ea"/>
              </a:rPr>
              <a:t>. </a:t>
            </a:r>
            <a:r>
              <a:rPr lang="en-US" altLang="en-US" sz="2400" dirty="0">
                <a:latin typeface="Times New Roman" panose="02020603050405020304" pitchFamily="18" charset="0"/>
                <a:cs typeface="Times New Roman" panose="02020603050405020304" pitchFamily="18" charset="0"/>
                <a:sym typeface="+mn-ea"/>
              </a:rPr>
              <a:t>The stored energy in the battery is then used to propel the vehicle.</a:t>
            </a:r>
            <a:endParaRPr lang="en-US" altLang="en-US" sz="2400" dirty="0">
              <a:latin typeface="Times New Roman" panose="02020603050405020304" pitchFamily="18" charset="0"/>
              <a:cs typeface="Times New Roman" panose="02020603050405020304" pitchFamily="18" charset="0"/>
            </a:endParaRPr>
          </a:p>
          <a:p>
            <a:pPr marL="0" indent="0" algn="just">
              <a:buFont typeface="Wingdings" panose="05000000000000000000" charset="0"/>
              <a:buNone/>
            </a:pPr>
            <a:endParaRPr lang="en-US" altLang="en-US" sz="2400" dirty="0">
              <a:latin typeface="Times New Roman" panose="02020603050405020304" pitchFamily="18" charset="0"/>
              <a:cs typeface="Times New Roman" panose="02020603050405020304" pitchFamily="18" charset="0"/>
            </a:endParaRPr>
          </a:p>
          <a:p>
            <a:endParaRPr lang="en-US" sz="2400" dirty="0"/>
          </a:p>
        </p:txBody>
      </p:sp>
      <p:sp>
        <p:nvSpPr>
          <p:cNvPr id="6" name="Slide Number Placeholder 5"/>
          <p:cNvSpPr>
            <a:spLocks noGrp="1"/>
          </p:cNvSpPr>
          <p:nvPr>
            <p:ph type="sldNum" sz="quarter" idx="12"/>
          </p:nvPr>
        </p:nvSpPr>
        <p:spPr/>
        <p:txBody>
          <a:bodyPr/>
          <a:lstStyle/>
          <a:p>
            <a:fld id="{EE33C336-295B-42A1-80A5-D3AF9E931B69}" type="slidenum">
              <a:rPr lang="en-IN" smtClean="0"/>
              <a:t>10</a:t>
            </a:fld>
            <a:endParaRPr lang="en-IN"/>
          </a:p>
        </p:txBody>
      </p:sp>
      <p:pic>
        <p:nvPicPr>
          <p:cNvPr id="7" name="Picture 6"/>
          <p:cNvPicPr>
            <a:picLocks noChangeAspect="1"/>
          </p:cNvPicPr>
          <p:nvPr/>
        </p:nvPicPr>
        <p:blipFill>
          <a:blip r:embed="rId2"/>
          <a:stretch>
            <a:fillRect/>
          </a:stretch>
        </p:blipFill>
        <p:spPr>
          <a:xfrm>
            <a:off x="1615700" y="3062375"/>
            <a:ext cx="3448800" cy="2856865"/>
          </a:xfrm>
          <a:prstGeom prst="rect">
            <a:avLst/>
          </a:prstGeom>
        </p:spPr>
      </p:pic>
      <p:pic>
        <p:nvPicPr>
          <p:cNvPr id="8" name="Picture 7"/>
          <p:cNvPicPr>
            <a:picLocks noChangeAspect="1"/>
          </p:cNvPicPr>
          <p:nvPr/>
        </p:nvPicPr>
        <p:blipFill>
          <a:blip r:embed="rId3"/>
          <a:stretch>
            <a:fillRect/>
          </a:stretch>
        </p:blipFill>
        <p:spPr>
          <a:xfrm>
            <a:off x="6652145" y="3139845"/>
            <a:ext cx="3544570" cy="2857500"/>
          </a:xfrm>
          <a:prstGeom prst="rect">
            <a:avLst/>
          </a:prstGeom>
        </p:spPr>
      </p:pic>
      <p:pic>
        <p:nvPicPr>
          <p:cNvPr id="9" name="Picture 8"/>
          <p:cNvPicPr>
            <a:picLocks noChangeAspect="1"/>
          </p:cNvPicPr>
          <p:nvPr/>
        </p:nvPicPr>
        <p:blipFill>
          <a:blip r:embed="rId4"/>
          <a:stretch>
            <a:fillRect/>
          </a:stretch>
        </p:blipFill>
        <p:spPr>
          <a:xfrm>
            <a:off x="8382000" y="0"/>
            <a:ext cx="3810000" cy="1200150"/>
          </a:xfrm>
          <a:prstGeom prst="rect">
            <a:avLst/>
          </a:prstGeom>
        </p:spPr>
      </p:pic>
      <p:sp>
        <p:nvSpPr>
          <p:cNvPr id="5" name="Title 4">
            <a:extLst>
              <a:ext uri="{FF2B5EF4-FFF2-40B4-BE49-F238E27FC236}">
                <a16:creationId xmlns:a16="http://schemas.microsoft.com/office/drawing/2014/main" id="{AEA7D33C-3CFA-4655-FCC6-B51C5880F747}"/>
              </a:ext>
            </a:extLst>
          </p:cNvPr>
          <p:cNvSpPr>
            <a:spLocks noGrp="1"/>
          </p:cNvSpPr>
          <p:nvPr>
            <p:ph type="title"/>
          </p:nvPr>
        </p:nvSpPr>
        <p:spPr/>
        <p:txBody>
          <a:bodyPr/>
          <a:lstStyle/>
          <a:p>
            <a:r>
              <a:rPr lang="en-IN" dirty="0"/>
              <a:t>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3903" y="1243965"/>
            <a:ext cx="10515600" cy="4890770"/>
          </a:xfrm>
        </p:spPr>
        <p:txBody>
          <a:bodyPr>
            <a:noAutofit/>
          </a:bodyPr>
          <a:lstStyle/>
          <a:p>
            <a:pPr marL="342900" indent="-342900">
              <a:lnSpc>
                <a:spcPct val="100000"/>
              </a:lnSpc>
              <a:buFont typeface="Wingdings" panose="05000000000000000000" pitchFamily="2" charset="2"/>
              <a:buChar char="Ø"/>
            </a:pPr>
            <a:r>
              <a:rPr lang="en-US" sz="2400" b="1">
                <a:latin typeface="Times New Roman" panose="02020603050405020304" pitchFamily="18" charset="0"/>
                <a:cs typeface="Times New Roman" panose="02020603050405020304" pitchFamily="18" charset="0"/>
                <a:sym typeface="+mn-ea"/>
              </a:rPr>
              <a:t> Case 1: </a:t>
            </a:r>
            <a:r>
              <a:rPr lang="en-US" sz="2400" b="1" dirty="0">
                <a:latin typeface="Times New Roman" panose="02020603050405020304" pitchFamily="18" charset="0"/>
                <a:cs typeface="Times New Roman" panose="02020603050405020304" pitchFamily="18" charset="0"/>
                <a:sym typeface="+mn-ea"/>
              </a:rPr>
              <a:t>Vehicle is propelled by using Solar Source</a:t>
            </a:r>
            <a:br>
              <a:rPr lang="en-US" sz="2400" b="1" dirty="0">
                <a:latin typeface="Times New Roman" panose="02020603050405020304" pitchFamily="18" charset="0"/>
                <a:cs typeface="Times New Roman" panose="02020603050405020304" pitchFamily="18" charset="0"/>
                <a:sym typeface="+mn-ea"/>
              </a:rPr>
            </a:br>
            <a:r>
              <a:rPr lang="en-US" sz="2400" dirty="0">
                <a:latin typeface="Times New Roman" panose="02020603050405020304" pitchFamily="18" charset="0"/>
                <a:cs typeface="Times New Roman" panose="02020603050405020304" pitchFamily="18" charset="0"/>
                <a:sym typeface="+mn-ea"/>
              </a:rPr>
              <a:t>In this case, the vehicle is powered by solar energy, which drives the electric motor to propel the vehicle</a:t>
            </a:r>
            <a:endParaRPr lang="en-US" sz="2400" dirty="0">
              <a:latin typeface="Times New Roman" panose="02020603050405020304" pitchFamily="18" charset="0"/>
              <a:cs typeface="Times New Roman" panose="02020603050405020304" pitchFamily="18" charset="0"/>
            </a:endParaRPr>
          </a:p>
          <a:p>
            <a:pPr marL="342900" indent="-342900" algn="just">
              <a:lnSpc>
                <a:spcPct val="10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sym typeface="+mn-ea"/>
              </a:rPr>
              <a:t>MODE: HYBRID MODE</a:t>
            </a:r>
            <a:endParaRPr lang="en-US" sz="2400" dirty="0">
              <a:latin typeface="Times New Roman" panose="02020603050405020304" pitchFamily="18" charset="0"/>
              <a:cs typeface="Times New Roman" panose="02020603050405020304" pitchFamily="18" charset="0"/>
            </a:endParaRPr>
          </a:p>
          <a:p>
            <a:pPr marL="342900" indent="-342900" algn="just">
              <a:lnSpc>
                <a:spcPct val="10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sym typeface="+mn-ea"/>
              </a:rPr>
              <a:t>When the battery’s SOC level is decreased, </a:t>
            </a:r>
            <a:r>
              <a:rPr lang="en-US" altLang="en-US" sz="2400" dirty="0">
                <a:ln>
                  <a:noFill/>
                </a:ln>
                <a:effectLst/>
                <a:latin typeface="Times New Roman" panose="02020603050405020304" pitchFamily="18" charset="0"/>
                <a:cs typeface="Times New Roman" panose="02020603050405020304" pitchFamily="18" charset="0"/>
                <a:sym typeface="+mn-ea"/>
              </a:rPr>
              <a:t>a microcontroller-based system automatically switches to solar power, ensuring seamless operation. This mechanism will enable uninterrupted EV charging while prioritizing renewable energy usage.</a:t>
            </a:r>
            <a:endParaRPr lang="en-US" sz="2400" dirty="0">
              <a:latin typeface="Times New Roman" panose="02020603050405020304" pitchFamily="18" charset="0"/>
              <a:cs typeface="Times New Roman" panose="02020603050405020304" pitchFamily="18" charset="0"/>
            </a:endParaRPr>
          </a:p>
          <a:p>
            <a:pPr indent="0">
              <a:lnSpc>
                <a:spcPct val="100000"/>
              </a:lnSpc>
              <a:buFont typeface="Wingdings" panose="05000000000000000000" pitchFamily="2" charset="2"/>
              <a:buNone/>
            </a:pPr>
            <a:r>
              <a:rPr lang="en-IN" altLang="en-GB" sz="2400" dirty="0">
                <a:latin typeface="Times New Roman" panose="02020603050405020304" pitchFamily="18" charset="0"/>
                <a:cs typeface="Times New Roman" panose="02020603050405020304" pitchFamily="18" charset="0"/>
                <a:sym typeface="+mn-ea"/>
              </a:rPr>
              <a:t>LINK:</a:t>
            </a:r>
            <a:r>
              <a:rPr lang="en-IN" altLang="en-GB" sz="2400" dirty="0">
                <a:latin typeface="Times New Roman" panose="02020603050405020304" pitchFamily="18" charset="0"/>
                <a:cs typeface="Times New Roman" panose="02020603050405020304" pitchFamily="18" charset="0"/>
                <a:sym typeface="+mn-ea"/>
                <a:hlinkClick r:id="rId2" action="ppaction://hlinkfile"/>
              </a:rPr>
              <a:t>Case-1(solar mode)</a:t>
            </a:r>
            <a:endParaRPr lang="en-IN" altLang="en-GB" sz="2400" dirty="0">
              <a:latin typeface="Times New Roman" panose="02020603050405020304" pitchFamily="18" charset="0"/>
              <a:cs typeface="Times New Roman" panose="02020603050405020304" pitchFamily="18" charset="0"/>
              <a:sym typeface="+mn-ea"/>
            </a:endParaRPr>
          </a:p>
          <a:p>
            <a:pPr indent="0">
              <a:lnSpc>
                <a:spcPct val="100000"/>
              </a:lnSpc>
              <a:buFont typeface="Wingdings" panose="05000000000000000000" pitchFamily="2" charset="2"/>
              <a:buNone/>
            </a:pPr>
            <a:r>
              <a:rPr lang="en-IN" altLang="en-GB" sz="2400" dirty="0">
                <a:latin typeface="Times New Roman" panose="02020603050405020304" pitchFamily="18" charset="0"/>
                <a:cs typeface="Times New Roman" panose="02020603050405020304" pitchFamily="18" charset="0"/>
                <a:sym typeface="+mn-ea"/>
              </a:rPr>
              <a:t>LINK:</a:t>
            </a:r>
            <a:r>
              <a:rPr lang="en-IN" altLang="en-GB" sz="2400" dirty="0">
                <a:latin typeface="Times New Roman" panose="02020603050405020304" pitchFamily="18" charset="0"/>
                <a:cs typeface="Times New Roman" panose="02020603050405020304" pitchFamily="18" charset="0"/>
                <a:sym typeface="+mn-ea"/>
                <a:hlinkClick r:id="rId3" action="ppaction://hlinkfile"/>
              </a:rPr>
              <a:t>Case-2(Battery mode)</a:t>
            </a:r>
            <a:endParaRPr lang="en-IN" altLang="en-GB" sz="2400" dirty="0">
              <a:latin typeface="Times New Roman" panose="02020603050405020304" pitchFamily="18" charset="0"/>
              <a:cs typeface="Times New Roman" panose="02020603050405020304" pitchFamily="18" charset="0"/>
            </a:endParaRPr>
          </a:p>
          <a:p>
            <a:pPr indent="0">
              <a:lnSpc>
                <a:spcPct val="100000"/>
              </a:lnSpc>
              <a:buFont typeface="Wingdings" panose="05000000000000000000" pitchFamily="2" charset="2"/>
              <a:buNone/>
            </a:pPr>
            <a:r>
              <a:rPr lang="en-IN" altLang="en-GB" sz="2400" dirty="0">
                <a:latin typeface="Times New Roman" panose="02020603050405020304" pitchFamily="18" charset="0"/>
                <a:cs typeface="Times New Roman" panose="02020603050405020304" pitchFamily="18" charset="0"/>
                <a:sym typeface="+mn-ea"/>
              </a:rPr>
              <a:t>LINK:</a:t>
            </a:r>
            <a:r>
              <a:rPr lang="en-IN" altLang="en-GB" sz="2400" dirty="0">
                <a:latin typeface="Times New Roman" panose="02020603050405020304" pitchFamily="18" charset="0"/>
                <a:cs typeface="Times New Roman" panose="02020603050405020304" pitchFamily="18" charset="0"/>
                <a:sym typeface="+mn-ea"/>
                <a:hlinkClick r:id="rId4" action="ppaction://hlinkfile"/>
              </a:rPr>
              <a:t>Case-3(Charge mode)</a:t>
            </a:r>
            <a:endParaRPr lang="en-IN" altLang="en-GB" sz="2400" dirty="0">
              <a:latin typeface="Times New Roman" panose="02020603050405020304" pitchFamily="18" charset="0"/>
              <a:cs typeface="Times New Roman" panose="02020603050405020304" pitchFamily="18" charset="0"/>
            </a:endParaRPr>
          </a:p>
          <a:p>
            <a:pPr>
              <a:lnSpc>
                <a:spcPct val="100000"/>
              </a:lnSpc>
            </a:pPr>
            <a:endParaRPr lang="en-IN" altLang="en-GB" sz="2400"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EE33C336-295B-42A1-80A5-D3AF9E931B69}" type="slidenum">
              <a:rPr lang="en-IN" smtClean="0"/>
              <a:t>11</a:t>
            </a:fld>
            <a:endParaRPr lang="en-IN"/>
          </a:p>
        </p:txBody>
      </p:sp>
      <p:pic>
        <p:nvPicPr>
          <p:cNvPr id="7" name="Picture 6"/>
          <p:cNvPicPr>
            <a:picLocks noChangeAspect="1"/>
          </p:cNvPicPr>
          <p:nvPr/>
        </p:nvPicPr>
        <p:blipFill>
          <a:blip r:embed="rId5"/>
          <a:stretch>
            <a:fillRect/>
          </a:stretch>
        </p:blipFill>
        <p:spPr>
          <a:xfrm>
            <a:off x="8382000" y="0"/>
            <a:ext cx="3810000" cy="1200150"/>
          </a:xfrm>
          <a:prstGeom prst="rect">
            <a:avLst/>
          </a:prstGeom>
        </p:spPr>
      </p:pic>
      <p:sp>
        <p:nvSpPr>
          <p:cNvPr id="5" name="Title 4">
            <a:extLst>
              <a:ext uri="{FF2B5EF4-FFF2-40B4-BE49-F238E27FC236}">
                <a16:creationId xmlns:a16="http://schemas.microsoft.com/office/drawing/2014/main" id="{98EAA899-E82C-AD67-F2BE-611256C99C21}"/>
              </a:ext>
            </a:extLst>
          </p:cNvPr>
          <p:cNvSpPr>
            <a:spLocks noGrp="1"/>
          </p:cNvSpPr>
          <p:nvPr>
            <p:ph type="title"/>
          </p:nvPr>
        </p:nvSpPr>
        <p:spPr>
          <a:xfrm>
            <a:off x="572729" y="365126"/>
            <a:ext cx="10515600" cy="835024"/>
          </a:xfrm>
        </p:spPr>
        <p:txBody>
          <a:bodyPr/>
          <a:lstStyle/>
          <a:p>
            <a:r>
              <a:rPr lang="en-IN" b="1" dirty="0">
                <a:latin typeface="Times New Roman" panose="02020603050405020304" pitchFamily="18" charset="0"/>
                <a:cs typeface="Times New Roman" panose="02020603050405020304" pitchFamily="18" charset="0"/>
              </a:rPr>
              <a:t> </a:t>
            </a:r>
            <a:r>
              <a:rPr lang="en-IN" sz="3200" b="1" dirty="0">
                <a:latin typeface="Times New Roman" panose="02020603050405020304" pitchFamily="18" charset="0"/>
                <a:cs typeface="Times New Roman" panose="02020603050405020304" pitchFamily="18" charset="0"/>
              </a:rPr>
              <a:t>Results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stretch>
            <a:fillRect/>
          </a:stretch>
        </p:blipFill>
        <p:spPr>
          <a:xfrm>
            <a:off x="8382000" y="155736"/>
            <a:ext cx="3810000" cy="1200150"/>
          </a:xfrm>
          <a:prstGeom prst="rect">
            <a:avLst/>
          </a:prstGeom>
        </p:spPr>
      </p:pic>
      <p:sp>
        <p:nvSpPr>
          <p:cNvPr id="3" name="TextBox 2"/>
          <p:cNvSpPr txBox="1"/>
          <p:nvPr/>
        </p:nvSpPr>
        <p:spPr>
          <a:xfrm>
            <a:off x="554621" y="1169073"/>
            <a:ext cx="10652760" cy="4929505"/>
          </a:xfrm>
          <a:prstGeom prst="rect">
            <a:avLst/>
          </a:prstGeom>
          <a:noFill/>
        </p:spPr>
        <p:txBody>
          <a:bodyPr wrap="square" rtlCol="0">
            <a:noAutofit/>
          </a:bodyPr>
          <a:lstStyle/>
          <a:p>
            <a:pPr marL="342900" indent="-342900">
              <a:lnSpc>
                <a:spcPct val="150000"/>
              </a:lnSpc>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Case2: Vehicle is propelled by using Battery Source</a:t>
            </a:r>
            <a:br>
              <a:rPr lang="en-US" sz="2400" b="1"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In this case, the vehicle is powered by the battery, which drives the electric motor to propel the vehicle</a:t>
            </a:r>
          </a:p>
          <a:p>
            <a:pPr marL="342900" indent="-34290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MODE : BATTERY MODE</a:t>
            </a:r>
          </a:p>
          <a:p>
            <a:pPr marL="342900" indent="-34290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When solar power is insufficient, the vehicle continues to run using the stored energy in the battery. The battery supplies power to the motor, ensuring uninterrupted operation</a:t>
            </a:r>
          </a:p>
          <a:p>
            <a:pPr marL="342900" indent="-342900">
              <a:lnSpc>
                <a:spcPct val="150000"/>
              </a:lnSpc>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indent="0">
              <a:buFont typeface="Wingdings" panose="05000000000000000000" pitchFamily="2" charset="2"/>
              <a:buNone/>
            </a:pPr>
            <a:r>
              <a:rPr lang="en-IN" altLang="en-GB" sz="2400" dirty="0">
                <a:latin typeface="Times New Roman" panose="02020603050405020304" pitchFamily="18" charset="0"/>
                <a:cs typeface="Times New Roman" panose="02020603050405020304" pitchFamily="18" charset="0"/>
              </a:rPr>
              <a:t>                                                                                                                                      </a:t>
            </a:r>
            <a:r>
              <a:rPr lang="en-IN" altLang="en-GB" sz="1200" dirty="0">
                <a:latin typeface="Calibri Light" panose="020F0302020204030204" charset="0"/>
                <a:cs typeface="Calibri Light" panose="020F0302020204030204" charset="0"/>
              </a:rPr>
              <a:t>12</a:t>
            </a:r>
          </a:p>
        </p:txBody>
      </p:sp>
      <p:sp>
        <p:nvSpPr>
          <p:cNvPr id="5" name="Title 4">
            <a:extLst>
              <a:ext uri="{FF2B5EF4-FFF2-40B4-BE49-F238E27FC236}">
                <a16:creationId xmlns:a16="http://schemas.microsoft.com/office/drawing/2014/main" id="{E158A9D2-B72E-FF1C-EDB5-B90EBB89E7BD}"/>
              </a:ext>
            </a:extLst>
          </p:cNvPr>
          <p:cNvSpPr>
            <a:spLocks noGrp="1"/>
          </p:cNvSpPr>
          <p:nvPr>
            <p:ph type="title"/>
          </p:nvPr>
        </p:nvSpPr>
        <p:spPr/>
        <p:txBody>
          <a:bodyPr/>
          <a:lstStyle/>
          <a:p>
            <a:r>
              <a:rPr lang="en-IN" dirty="0"/>
              <a:t>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stretch>
            <a:fillRect/>
          </a:stretch>
        </p:blipFill>
        <p:spPr>
          <a:xfrm>
            <a:off x="8382000" y="635"/>
            <a:ext cx="3810000" cy="980440"/>
          </a:xfrm>
          <a:prstGeom prst="rect">
            <a:avLst/>
          </a:prstGeom>
        </p:spPr>
      </p:pic>
      <p:sp>
        <p:nvSpPr>
          <p:cNvPr id="3" name="TextBox 2"/>
          <p:cNvSpPr txBox="1"/>
          <p:nvPr/>
        </p:nvSpPr>
        <p:spPr>
          <a:xfrm>
            <a:off x="467544" y="925186"/>
            <a:ext cx="10314709" cy="1938020"/>
          </a:xfrm>
          <a:prstGeom prst="rect">
            <a:avLst/>
          </a:prstGeom>
          <a:noFill/>
        </p:spPr>
        <p:txBody>
          <a:bodyPr wrap="square" rtlCol="0">
            <a:spAutoFit/>
          </a:bodyPr>
          <a:lstStyle/>
          <a:p>
            <a:pPr marL="342900" indent="-342900">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Case-3: Battery is charge by using the conventional power source</a:t>
            </a:r>
            <a:br>
              <a:rPr lang="en-US" sz="2400" b="1"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During the case of no solar energy and charge level in battery, then the battery is charged by use conventional power source from grid of 230V AC supply to the conversion of 15V Dc supply through adapter </a:t>
            </a:r>
            <a:endParaRPr lang="en-GB" sz="2400" dirty="0">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r>
              <a:rPr lang="en-GB" sz="2400" dirty="0">
                <a:latin typeface="Times New Roman" panose="02020603050405020304" pitchFamily="18" charset="0"/>
                <a:cs typeface="Times New Roman" panose="02020603050405020304" pitchFamily="18" charset="0"/>
              </a:rPr>
              <a:t>MODE : CHARGING MODE</a:t>
            </a:r>
            <a:endParaRPr lang="en-US" sz="2400" dirty="0">
              <a:latin typeface="Times New Roman" panose="02020603050405020304" pitchFamily="18" charset="0"/>
              <a:cs typeface="Times New Roman" panose="02020603050405020304" pitchFamily="18" charset="0"/>
            </a:endParaRPr>
          </a:p>
        </p:txBody>
      </p:sp>
      <p:pic>
        <p:nvPicPr>
          <p:cNvPr id="6" name="Picture 5"/>
          <p:cNvPicPr preferRelativeResize="0"/>
          <p:nvPr/>
        </p:nvPicPr>
        <p:blipFill>
          <a:blip r:embed="rId3" cstate="print">
            <a:extLst>
              <a:ext uri="{28A0092B-C50C-407E-A947-70E740481C1C}">
                <a14:useLocalDpi xmlns:a14="http://schemas.microsoft.com/office/drawing/2010/main" val="0"/>
              </a:ext>
            </a:extLst>
          </a:blip>
          <a:srcRect l="16361" r="21866"/>
          <a:stretch>
            <a:fillRect/>
          </a:stretch>
        </p:blipFill>
        <p:spPr>
          <a:xfrm rot="5400000">
            <a:off x="7696342" y="1648836"/>
            <a:ext cx="2743200" cy="5486400"/>
          </a:xfrm>
          <a:prstGeom prst="rect">
            <a:avLst/>
          </a:prstGeom>
        </p:spPr>
      </p:pic>
      <p:pic>
        <p:nvPicPr>
          <p:cNvPr id="9" name="Picture 8"/>
          <p:cNvPicPr preferRelativeResize="0"/>
          <p:nvPr/>
        </p:nvPicPr>
        <p:blipFill>
          <a:blip r:embed="rId4" cstate="print">
            <a:extLst>
              <a:ext uri="{28A0092B-C50C-407E-A947-70E740481C1C}">
                <a14:useLocalDpi xmlns:a14="http://schemas.microsoft.com/office/drawing/2010/main" val="0"/>
              </a:ext>
            </a:extLst>
          </a:blip>
          <a:stretch>
            <a:fillRect/>
          </a:stretch>
        </p:blipFill>
        <p:spPr>
          <a:xfrm rot="5400000">
            <a:off x="1708123" y="1648837"/>
            <a:ext cx="2743200" cy="5486400"/>
          </a:xfrm>
          <a:prstGeom prst="rect">
            <a:avLst/>
          </a:prstGeom>
        </p:spPr>
      </p:pic>
      <p:sp>
        <p:nvSpPr>
          <p:cNvPr id="11" name="TextBox 10"/>
          <p:cNvSpPr txBox="1"/>
          <p:nvPr/>
        </p:nvSpPr>
        <p:spPr>
          <a:xfrm>
            <a:off x="258317" y="5876078"/>
            <a:ext cx="3167276" cy="646331"/>
          </a:xfrm>
          <a:prstGeom prst="rect">
            <a:avLst/>
          </a:prstGeom>
          <a:noFill/>
        </p:spPr>
        <p:txBody>
          <a:bodyPr wrap="square" rtlCol="0">
            <a:spAutoFit/>
          </a:bodyPr>
          <a:lstStyle/>
          <a:p>
            <a:r>
              <a:rPr lang="en-US" b="1" dirty="0"/>
              <a:t>BATTERY VOLTAGE : 10.96V</a:t>
            </a:r>
          </a:p>
          <a:p>
            <a:r>
              <a:rPr lang="en-US" b="1" dirty="0"/>
              <a:t>CHARGE : 83%</a:t>
            </a:r>
          </a:p>
        </p:txBody>
      </p:sp>
      <p:sp>
        <p:nvSpPr>
          <p:cNvPr id="12" name="TextBox 11"/>
          <p:cNvSpPr txBox="1"/>
          <p:nvPr/>
        </p:nvSpPr>
        <p:spPr>
          <a:xfrm>
            <a:off x="9067942" y="5931458"/>
            <a:ext cx="3167276" cy="829945"/>
          </a:xfrm>
          <a:prstGeom prst="rect">
            <a:avLst/>
          </a:prstGeom>
          <a:noFill/>
        </p:spPr>
        <p:txBody>
          <a:bodyPr wrap="square" rtlCol="0">
            <a:spAutoFit/>
          </a:bodyPr>
          <a:lstStyle/>
          <a:p>
            <a:r>
              <a:rPr lang="en-US" b="1" dirty="0"/>
              <a:t>BATTERY VOLTAGE : 11.28V</a:t>
            </a:r>
          </a:p>
          <a:p>
            <a:r>
              <a:rPr lang="en-US" b="1" dirty="0"/>
              <a:t>CHARGE : 91%</a:t>
            </a:r>
          </a:p>
          <a:p>
            <a:r>
              <a:rPr lang="en-IN" altLang="en-US" sz="1200" dirty="0"/>
              <a:t>                                                           13</a:t>
            </a:r>
          </a:p>
        </p:txBody>
      </p:sp>
      <p:cxnSp>
        <p:nvCxnSpPr>
          <p:cNvPr id="14" name="Straight Arrow Connector 13"/>
          <p:cNvCxnSpPr/>
          <p:nvPr/>
        </p:nvCxnSpPr>
        <p:spPr>
          <a:xfrm flipV="1">
            <a:off x="3425593" y="6262158"/>
            <a:ext cx="5621455" cy="662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4511148" y="5896398"/>
            <a:ext cx="4114139" cy="646331"/>
          </a:xfrm>
          <a:prstGeom prst="rect">
            <a:avLst/>
          </a:prstGeom>
          <a:noFill/>
        </p:spPr>
        <p:txBody>
          <a:bodyPr wrap="square" rtlCol="0">
            <a:spAutoFit/>
          </a:bodyPr>
          <a:lstStyle/>
          <a:p>
            <a:pPr algn="ctr"/>
            <a:r>
              <a:rPr lang="en-US" b="1" dirty="0"/>
              <a:t>Battery is charging by using conventional grid power through adapter</a:t>
            </a:r>
          </a:p>
        </p:txBody>
      </p:sp>
      <p:sp>
        <p:nvSpPr>
          <p:cNvPr id="5" name="Title 4">
            <a:extLst>
              <a:ext uri="{FF2B5EF4-FFF2-40B4-BE49-F238E27FC236}">
                <a16:creationId xmlns:a16="http://schemas.microsoft.com/office/drawing/2014/main" id="{938082CB-B557-73B4-AAE1-A7CD6A7A94B9}"/>
              </a:ext>
            </a:extLst>
          </p:cNvPr>
          <p:cNvSpPr>
            <a:spLocks noGrp="1"/>
          </p:cNvSpPr>
          <p:nvPr>
            <p:ph type="title"/>
          </p:nvPr>
        </p:nvSpPr>
        <p:spPr/>
        <p:txBody>
          <a:bodyPr/>
          <a:lstStyle/>
          <a:p>
            <a:r>
              <a:rPr lang="en-IN" dirty="0"/>
              <a:t>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1723" y="374650"/>
            <a:ext cx="10515600" cy="930910"/>
          </a:xfrm>
        </p:spPr>
        <p:txBody>
          <a:bodyPr/>
          <a:lstStyle/>
          <a:p>
            <a:r>
              <a:rPr lang="en-IN" altLang="en-US" sz="3200" b="1" dirty="0">
                <a:latin typeface="Times New Roman" panose="02020603050405020304" pitchFamily="18" charset="0"/>
                <a:cs typeface="Times New Roman" panose="02020603050405020304" pitchFamily="18" charset="0"/>
              </a:rPr>
              <a:t>Automatic switching</a:t>
            </a:r>
          </a:p>
        </p:txBody>
      </p:sp>
      <p:sp>
        <p:nvSpPr>
          <p:cNvPr id="3" name="Content Placeholder 2"/>
          <p:cNvSpPr>
            <a:spLocks noGrp="1"/>
          </p:cNvSpPr>
          <p:nvPr>
            <p:ph idx="1"/>
          </p:nvPr>
        </p:nvSpPr>
        <p:spPr>
          <a:xfrm>
            <a:off x="631723" y="1418590"/>
            <a:ext cx="10515600" cy="4815205"/>
          </a:xfrm>
        </p:spPr>
        <p:txBody>
          <a:bodyPr>
            <a:normAutofit/>
          </a:bodyPr>
          <a:lstStyle/>
          <a:p>
            <a:pPr>
              <a:lnSpc>
                <a:spcPct val="150000"/>
              </a:lnSpc>
              <a:buFont typeface="Wingdings" panose="05000000000000000000" charset="0"/>
              <a:buChar char="Ø"/>
            </a:pPr>
            <a:r>
              <a:rPr lang="en-US" altLang="en-US" sz="2400" dirty="0">
                <a:latin typeface="Times New Roman" panose="02020603050405020304" pitchFamily="18" charset="0"/>
                <a:cs typeface="Times New Roman" panose="02020603050405020304" pitchFamily="18" charset="0"/>
              </a:rPr>
              <a:t>When solar power is available, the EV runs directly using solar energy. If solar is unavailable, the system automatically switches to the battery, which was charged using solar power, ensuring uninterrupted operation of the EV. When both solar and battery power are unavailable, the system switches to a single-phase supply to charge the battery, ensuring continuous operation. This smart switching mechanism eliminates manual intervention, optimizes energy usage, and improves efficiency.</a:t>
            </a:r>
          </a:p>
          <a:p>
            <a:pPr marL="0" indent="0">
              <a:lnSpc>
                <a:spcPct val="150000"/>
              </a:lnSpc>
              <a:buFont typeface="Wingdings" panose="05000000000000000000" charset="0"/>
              <a:buNone/>
            </a:pPr>
            <a:r>
              <a:rPr lang="en-IN" altLang="en-US" sz="2400" dirty="0">
                <a:latin typeface="Times New Roman" panose="02020603050405020304" pitchFamily="18" charset="0"/>
                <a:cs typeface="Times New Roman" panose="02020603050405020304" pitchFamily="18" charset="0"/>
              </a:rPr>
              <a:t>LINK: </a:t>
            </a:r>
            <a:r>
              <a:rPr lang="en-IN" altLang="en-US" sz="2400" dirty="0">
                <a:latin typeface="Times New Roman" panose="02020603050405020304" pitchFamily="18" charset="0"/>
                <a:cs typeface="Times New Roman" panose="02020603050405020304" pitchFamily="18" charset="0"/>
                <a:hlinkClick r:id="rId2" action="ppaction://hlinkfile"/>
              </a:rPr>
              <a:t>Automatic Switching</a:t>
            </a:r>
            <a:endParaRPr lang="en-US" altLang="en-US" dirty="0"/>
          </a:p>
          <a:p>
            <a:endParaRPr lang="en-US" altLang="en-US" dirty="0"/>
          </a:p>
          <a:p>
            <a:endParaRPr lang="en-US" altLang="en-US" dirty="0"/>
          </a:p>
        </p:txBody>
      </p:sp>
      <p:sp>
        <p:nvSpPr>
          <p:cNvPr id="6" name="Slide Number Placeholder 5"/>
          <p:cNvSpPr>
            <a:spLocks noGrp="1"/>
          </p:cNvSpPr>
          <p:nvPr>
            <p:ph type="sldNum" sz="quarter" idx="12"/>
          </p:nvPr>
        </p:nvSpPr>
        <p:spPr/>
        <p:txBody>
          <a:bodyPr/>
          <a:lstStyle/>
          <a:p>
            <a:fld id="{EE33C336-295B-42A1-80A5-D3AF9E931B69}" type="slidenum">
              <a:rPr lang="en-IN" smtClean="0"/>
              <a:t>14</a:t>
            </a:fld>
            <a:endParaRPr lang="en-IN"/>
          </a:p>
        </p:txBody>
      </p:sp>
      <p:pic>
        <p:nvPicPr>
          <p:cNvPr id="7" name="Picture 6"/>
          <p:cNvPicPr>
            <a:picLocks noChangeAspect="1"/>
          </p:cNvPicPr>
          <p:nvPr/>
        </p:nvPicPr>
        <p:blipFill>
          <a:blip r:embed="rId3"/>
          <a:stretch>
            <a:fillRect/>
          </a:stretch>
        </p:blipFill>
        <p:spPr>
          <a:xfrm>
            <a:off x="8382000" y="115570"/>
            <a:ext cx="3810000" cy="106743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44BA0C-55DE-AFF9-3937-57D9C9E5D6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22EEFA-EFF0-9516-5A4F-9739B2825667}"/>
              </a:ext>
            </a:extLst>
          </p:cNvPr>
          <p:cNvSpPr>
            <a:spLocks noGrp="1"/>
          </p:cNvSpPr>
          <p:nvPr>
            <p:ph type="title"/>
          </p:nvPr>
        </p:nvSpPr>
        <p:spPr>
          <a:xfrm>
            <a:off x="562897" y="365125"/>
            <a:ext cx="10515600" cy="930910"/>
          </a:xfrm>
        </p:spPr>
        <p:txBody>
          <a:bodyPr/>
          <a:lstStyle/>
          <a:p>
            <a:r>
              <a:rPr lang="en-IN" altLang="en-US" sz="3200" b="1"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97C1DC0C-1ADA-95C4-A989-11A468F34A2A}"/>
              </a:ext>
            </a:extLst>
          </p:cNvPr>
          <p:cNvSpPr>
            <a:spLocks noGrp="1"/>
          </p:cNvSpPr>
          <p:nvPr>
            <p:ph idx="1"/>
          </p:nvPr>
        </p:nvSpPr>
        <p:spPr>
          <a:xfrm>
            <a:off x="562897" y="1418590"/>
            <a:ext cx="10515600" cy="4815205"/>
          </a:xfrm>
        </p:spPr>
        <p:txBody>
          <a:bodyPr>
            <a:normAutofit/>
          </a:bodyPr>
          <a:lstStyle/>
          <a:p>
            <a:pPr algn="just">
              <a:lnSpc>
                <a:spcPct val="150000"/>
              </a:lnSpc>
              <a:buFont typeface="Wingdings" panose="05000000000000000000" charset="0"/>
              <a:buChar char="Ø"/>
            </a:pPr>
            <a:r>
              <a:rPr lang="en-US" sz="2400" dirty="0">
                <a:latin typeface="Times New Roman" panose="02020603050405020304" pitchFamily="18" charset="0"/>
                <a:cs typeface="Times New Roman" panose="02020603050405020304" pitchFamily="18" charset="0"/>
              </a:rPr>
              <a:t>Our Project, “Hybrid Charging System for Electric Vehicles”, efficiently operates in three modes—Solar, Battery, and Grid—ensuring continuous power supply with an automatic microcontroller-based switching mechanism. Solar charging offers a sustainable solution by utilizing photovoltaic cells to convert renewable energy into electricity. In hybrid mode, the vehicle runs on solar power; in battery mode, stored energy is used when solar power is insufficient; and in charging mode, the grid supplies power. This system enhances efficiency, reliability, and sustainability while reducing grid dependency and promoting renewable energy use.</a:t>
            </a:r>
            <a:endParaRPr lang="en-US" altLang="en-US" sz="2400" dirty="0">
              <a:latin typeface="Times New Roman" panose="02020603050405020304" pitchFamily="18" charset="0"/>
              <a:cs typeface="Times New Roman" panose="02020603050405020304" pitchFamily="18" charset="0"/>
            </a:endParaRPr>
          </a:p>
          <a:p>
            <a:endParaRPr lang="en-US" altLang="en-US" dirty="0"/>
          </a:p>
        </p:txBody>
      </p:sp>
      <p:sp>
        <p:nvSpPr>
          <p:cNvPr id="6" name="Slide Number Placeholder 5">
            <a:extLst>
              <a:ext uri="{FF2B5EF4-FFF2-40B4-BE49-F238E27FC236}">
                <a16:creationId xmlns:a16="http://schemas.microsoft.com/office/drawing/2014/main" id="{1893E8D9-58CB-C339-1A85-A6F48DF3BAB1}"/>
              </a:ext>
            </a:extLst>
          </p:cNvPr>
          <p:cNvSpPr>
            <a:spLocks noGrp="1"/>
          </p:cNvSpPr>
          <p:nvPr>
            <p:ph type="sldNum" sz="quarter" idx="12"/>
          </p:nvPr>
        </p:nvSpPr>
        <p:spPr/>
        <p:txBody>
          <a:bodyPr/>
          <a:lstStyle/>
          <a:p>
            <a:fld id="{EE33C336-295B-42A1-80A5-D3AF9E931B69}" type="slidenum">
              <a:rPr lang="en-IN" smtClean="0"/>
              <a:t>15</a:t>
            </a:fld>
            <a:endParaRPr lang="en-IN"/>
          </a:p>
        </p:txBody>
      </p:sp>
      <p:pic>
        <p:nvPicPr>
          <p:cNvPr id="7" name="Picture 6">
            <a:extLst>
              <a:ext uri="{FF2B5EF4-FFF2-40B4-BE49-F238E27FC236}">
                <a16:creationId xmlns:a16="http://schemas.microsoft.com/office/drawing/2014/main" id="{A91C7E75-DDC2-F1A4-A770-D2B66581CD50}"/>
              </a:ext>
            </a:extLst>
          </p:cNvPr>
          <p:cNvPicPr>
            <a:picLocks noChangeAspect="1"/>
          </p:cNvPicPr>
          <p:nvPr/>
        </p:nvPicPr>
        <p:blipFill>
          <a:blip r:embed="rId2"/>
          <a:stretch>
            <a:fillRect/>
          </a:stretch>
        </p:blipFill>
        <p:spPr>
          <a:xfrm>
            <a:off x="8382000" y="115570"/>
            <a:ext cx="3810000" cy="1067435"/>
          </a:xfrm>
          <a:prstGeom prst="rect">
            <a:avLst/>
          </a:prstGeom>
        </p:spPr>
      </p:pic>
    </p:spTree>
    <p:extLst>
      <p:ext uri="{BB962C8B-B14F-4D97-AF65-F5344CB8AC3E}">
        <p14:creationId xmlns:p14="http://schemas.microsoft.com/office/powerpoint/2010/main" val="20869147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0809" y="242700"/>
            <a:ext cx="10515600" cy="737534"/>
          </a:xfrm>
        </p:spPr>
        <p:txBody>
          <a:bodyPr>
            <a:normAutofit/>
          </a:bodyPr>
          <a:lstStyle/>
          <a:p>
            <a:r>
              <a:rPr lang="en-US" sz="3200" b="1" dirty="0">
                <a:latin typeface="Times New Roman" panose="02020603050405020304" pitchFamily="18" charset="0"/>
                <a:cs typeface="Times New Roman" panose="02020603050405020304" pitchFamily="18" charset="0"/>
              </a:rPr>
              <a:t>References</a:t>
            </a:r>
            <a:endParaRPr lang="en-IN" sz="3200" dirty="0"/>
          </a:p>
        </p:txBody>
      </p:sp>
      <p:pic>
        <p:nvPicPr>
          <p:cNvPr id="7" name="Picture 6"/>
          <p:cNvPicPr>
            <a:picLocks noChangeAspect="1"/>
          </p:cNvPicPr>
          <p:nvPr/>
        </p:nvPicPr>
        <p:blipFill>
          <a:blip r:embed="rId2"/>
          <a:stretch>
            <a:fillRect/>
          </a:stretch>
        </p:blipFill>
        <p:spPr>
          <a:xfrm>
            <a:off x="8382000" y="69763"/>
            <a:ext cx="3810000" cy="1200150"/>
          </a:xfrm>
          <a:prstGeom prst="rect">
            <a:avLst/>
          </a:prstGeom>
        </p:spPr>
      </p:pic>
      <p:graphicFrame>
        <p:nvGraphicFramePr>
          <p:cNvPr id="3" name="Table 2"/>
          <p:cNvGraphicFramePr>
            <a:graphicFrameLocks noGrp="1"/>
          </p:cNvGraphicFramePr>
          <p:nvPr>
            <p:extLst>
              <p:ext uri="{D42A27DB-BD31-4B8C-83A1-F6EECF244321}">
                <p14:modId xmlns:p14="http://schemas.microsoft.com/office/powerpoint/2010/main" val="4099433135"/>
              </p:ext>
            </p:extLst>
          </p:nvPr>
        </p:nvGraphicFramePr>
        <p:xfrm>
          <a:off x="209645" y="1064680"/>
          <a:ext cx="11057928" cy="6597177"/>
        </p:xfrm>
        <a:graphic>
          <a:graphicData uri="http://schemas.openxmlformats.org/drawingml/2006/table">
            <a:tbl>
              <a:tblPr firstRow="1" bandRow="1">
                <a:tableStyleId>{5C22544A-7EE6-4342-B048-85BDC9FD1C3A}</a:tableStyleId>
              </a:tblPr>
              <a:tblGrid>
                <a:gridCol w="525780">
                  <a:extLst>
                    <a:ext uri="{9D8B030D-6E8A-4147-A177-3AD203B41FA5}">
                      <a16:colId xmlns:a16="http://schemas.microsoft.com/office/drawing/2014/main" val="20000"/>
                    </a:ext>
                  </a:extLst>
                </a:gridCol>
                <a:gridCol w="10532148">
                  <a:extLst>
                    <a:ext uri="{9D8B030D-6E8A-4147-A177-3AD203B41FA5}">
                      <a16:colId xmlns:a16="http://schemas.microsoft.com/office/drawing/2014/main" val="20001"/>
                    </a:ext>
                  </a:extLst>
                </a:gridCol>
              </a:tblGrid>
              <a:tr h="1337790">
                <a:tc>
                  <a:txBody>
                    <a:bodyPr/>
                    <a:lstStyle/>
                    <a:p>
                      <a:pPr algn="just"/>
                      <a:endParaRPr lang="en-IN" sz="1900"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marR="0" lvl="0" indent="-285750" algn="just" defTabSz="914400" rtl="0" eaLnBrk="1" fontAlgn="auto" latinLnBrk="0" hangingPunct="1">
                        <a:lnSpc>
                          <a:spcPct val="90000"/>
                        </a:lnSpc>
                        <a:spcBef>
                          <a:spcPts val="1000"/>
                        </a:spcBef>
                        <a:spcAft>
                          <a:spcPts val="0"/>
                        </a:spcAft>
                        <a:buClrTx/>
                        <a:buSzTx/>
                        <a:buFont typeface="Wingdings" panose="05000000000000000000" pitchFamily="2" charset="2"/>
                        <a:buChar char="Ø"/>
                        <a:defRPr/>
                      </a:pPr>
                      <a:r>
                        <a:rPr lang="en-US" sz="1800" b="0" dirty="0">
                          <a:solidFill>
                            <a:schemeClr val="tx1"/>
                          </a:solidFill>
                          <a:latin typeface="Times New Roman" panose="02020603050405020304" pitchFamily="18" charset="0"/>
                          <a:cs typeface="Times New Roman" panose="02020603050405020304" pitchFamily="18" charset="0"/>
                        </a:rPr>
                        <a:t>Suvarna Rode, Rashmi Kale, Devoushka Yadav, Dhananjay Pawar , Jatin satyam, Nishant shelar, “DEVELOPMENT OF SOLAR POWERED ELECTRIC VEHICLE PROTOTYPE”, 7th INTERNATIONAL CONFERENCE ON PRODUCTION AND INDUSTRIAL ENGINEERING (CPIE-2023)</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1611658">
                <a:tc>
                  <a:txBody>
                    <a:bodyPr/>
                    <a:lstStyle/>
                    <a:p>
                      <a:pPr algn="just"/>
                      <a:endParaRPr lang="en-IN" sz="1900"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lvl="0" indent="-285750" algn="just">
                        <a:lnSpc>
                          <a:spcPct val="90000"/>
                        </a:lnSpc>
                        <a:spcBef>
                          <a:spcPts val="1000"/>
                        </a:spcBef>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Mohammad Waseem, Ahmad Faizan Sherwani, Mohd Suhaib, Integration of solar energy in electrical, hybrid, autonomous vehicles: a technological review, Integration of solar energy in electrical, hybrid, autonomous vehicles: a technological review, Received: 18 July 2019 / Accepted: 3 October 2019 / Published online: 22 October 2019</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662928">
                <a:tc>
                  <a:txBody>
                    <a:bodyPr/>
                    <a:lstStyle/>
                    <a:p>
                      <a:pPr algn="just"/>
                      <a:endParaRPr lang="en-IN" sz="1900"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Ø"/>
                        <a:defRPr/>
                      </a:pPr>
                      <a:r>
                        <a:rPr lang="en-US" sz="1800" dirty="0">
                          <a:latin typeface="Times New Roman" panose="02020603050405020304" pitchFamily="18" charset="0"/>
                          <a:cs typeface="Times New Roman" panose="02020603050405020304" pitchFamily="18" charset="0"/>
                        </a:rPr>
                        <a:t>Hybrid Optimization for Economic Deployment of ESS in PV-Integrated EV Charging Stations Chaudhari K, Ukil A, Kollimalla S IEEE Transactions on Industrial Informatics (2018) 14(1) 106-116</a:t>
                      </a:r>
                    </a:p>
                    <a:p>
                      <a:pPr marL="0" marR="0" lvl="0" indent="0" algn="just" defTabSz="914400" rtl="0" eaLnBrk="1" fontAlgn="auto" latinLnBrk="0" hangingPunct="1">
                        <a:lnSpc>
                          <a:spcPct val="100000"/>
                        </a:lnSpc>
                        <a:spcBef>
                          <a:spcPts val="0"/>
                        </a:spcBef>
                        <a:spcAft>
                          <a:spcPts val="0"/>
                        </a:spcAft>
                        <a:buClrTx/>
                        <a:buSzTx/>
                        <a:buFont typeface="Wingdings" panose="05000000000000000000" pitchFamily="2" charset="2"/>
                        <a:buNone/>
                        <a:defRPr/>
                      </a:pPr>
                      <a:endParaRPr lang="en-US" sz="1800" dirty="0">
                        <a:latin typeface="Times New Roman" panose="02020603050405020304" pitchFamily="18" charset="0"/>
                        <a:cs typeface="Times New Roman" panose="02020603050405020304" pitchFamily="18" charset="0"/>
                      </a:endParaRP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Ø"/>
                        <a:defRPr/>
                      </a:pPr>
                      <a:endParaRPr kumimoji="0" lang="en-US" sz="18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endParaRP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Ø"/>
                        <a:defRPr/>
                      </a:pPr>
                      <a:r>
                        <a:rPr lang="en-US" sz="1800" kern="1200" dirty="0">
                          <a:solidFill>
                            <a:schemeClr val="dk1"/>
                          </a:solidFill>
                          <a:effectLst/>
                          <a:latin typeface="Times New Roman" panose="02020603050405020304" pitchFamily="18" charset="0"/>
                          <a:ea typeface="+mn-ea"/>
                          <a:cs typeface="Times New Roman" panose="02020603050405020304" pitchFamily="18" charset="0"/>
                        </a:rPr>
                        <a:t>DESIGN AND IMPLEMENTATION OF SOLAR POWERED ELECTRIC VEHICLE FOR ON-CAMPUS UNIVERSITY APPLICATIONS: </a:t>
                      </a:r>
                      <a:r>
                        <a:rPr lang="en-IN" sz="1800" kern="1200" dirty="0">
                          <a:solidFill>
                            <a:schemeClr val="dk1"/>
                          </a:solidFill>
                          <a:effectLst/>
                          <a:latin typeface="Times New Roman" panose="02020603050405020304" pitchFamily="18" charset="0"/>
                          <a:ea typeface="+mn-ea"/>
                          <a:cs typeface="Times New Roman" panose="02020603050405020304" pitchFamily="18" charset="0"/>
                        </a:rPr>
                        <a:t>Ahmad F. Tazay1.</a:t>
                      </a: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Ø"/>
                        <a:defRPr/>
                      </a:pPr>
                      <a:endParaRPr kumimoji="0" lang="en-IN" sz="1800" b="0" i="0" u="none" strike="noStrike" kern="1200" cap="none" spc="0" normalizeH="0" baseline="0" noProof="0" dirty="0">
                        <a:ln>
                          <a:noFill/>
                        </a:ln>
                        <a:solidFill>
                          <a:schemeClr val="dk1"/>
                        </a:solidFill>
                        <a:effectLst/>
                        <a:uLnTx/>
                        <a:uFillTx/>
                        <a:latin typeface="Times New Roman" panose="02020603050405020304" pitchFamily="18" charset="0"/>
                        <a:ea typeface="+mn-ea"/>
                        <a:cs typeface="Times New Roman" panose="02020603050405020304" pitchFamily="18" charset="0"/>
                      </a:endParaRP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Ø"/>
                        <a:defRPr/>
                      </a:pPr>
                      <a:r>
                        <a:rPr lang="en-US" sz="1800" kern="1200" dirty="0">
                          <a:solidFill>
                            <a:schemeClr val="dk1"/>
                          </a:solidFill>
                          <a:effectLst/>
                          <a:latin typeface="Times New Roman" panose="02020603050405020304" pitchFamily="18" charset="0"/>
                          <a:ea typeface="+mn-ea"/>
                          <a:cs typeface="Times New Roman" panose="02020603050405020304" pitchFamily="18" charset="0"/>
                        </a:rPr>
                        <a:t>DESIGN OF SOLAR POWERED ELECTRIC VEHICLE: </a:t>
                      </a:r>
                      <a:r>
                        <a:rPr lang="en-IN" sz="1800" kern="1200" dirty="0" err="1">
                          <a:solidFill>
                            <a:schemeClr val="dk1"/>
                          </a:solidFill>
                          <a:effectLst/>
                          <a:latin typeface="Times New Roman" panose="02020603050405020304" pitchFamily="18" charset="0"/>
                          <a:ea typeface="+mn-ea"/>
                          <a:cs typeface="Times New Roman" panose="02020603050405020304" pitchFamily="18" charset="0"/>
                        </a:rPr>
                        <a:t>AruliousJora</a:t>
                      </a:r>
                      <a:r>
                        <a:rPr lang="en-IN" sz="1800" kern="1200" dirty="0">
                          <a:solidFill>
                            <a:schemeClr val="dk1"/>
                          </a:solidFill>
                          <a:effectLst/>
                          <a:latin typeface="Times New Roman" panose="02020603050405020304" pitchFamily="18" charset="0"/>
                          <a:ea typeface="+mn-ea"/>
                          <a:cs typeface="Times New Roman" panose="02020603050405020304" pitchFamily="18" charset="0"/>
                        </a:rPr>
                        <a:t> A, </a:t>
                      </a:r>
                      <a:r>
                        <a:rPr lang="en-IN" sz="1800" kern="1200" dirty="0" err="1">
                          <a:solidFill>
                            <a:schemeClr val="dk1"/>
                          </a:solidFill>
                          <a:effectLst/>
                          <a:latin typeface="Times New Roman" panose="02020603050405020304" pitchFamily="18" charset="0"/>
                          <a:ea typeface="+mn-ea"/>
                          <a:cs typeface="Times New Roman" panose="02020603050405020304" pitchFamily="18" charset="0"/>
                        </a:rPr>
                        <a:t>Earlina</a:t>
                      </a:r>
                      <a:r>
                        <a:rPr lang="en-IN" sz="1800" kern="1200" dirty="0">
                          <a:solidFill>
                            <a:schemeClr val="dk1"/>
                          </a:solidFill>
                          <a:effectLst/>
                          <a:latin typeface="Times New Roman" panose="02020603050405020304" pitchFamily="18" charset="0"/>
                          <a:ea typeface="+mn-ea"/>
                          <a:cs typeface="Times New Roman" panose="02020603050405020304" pitchFamily="18" charset="0"/>
                        </a:rPr>
                        <a:t> D, Harish D  ,</a:t>
                      </a:r>
                      <a:r>
                        <a:rPr lang="en-IN" sz="1800" kern="1200" dirty="0" err="1">
                          <a:solidFill>
                            <a:schemeClr val="dk1"/>
                          </a:solidFill>
                          <a:effectLst/>
                          <a:latin typeface="Times New Roman" panose="02020603050405020304" pitchFamily="18" charset="0"/>
                          <a:ea typeface="+mn-ea"/>
                          <a:cs typeface="Times New Roman" panose="02020603050405020304" pitchFamily="18" charset="0"/>
                        </a:rPr>
                        <a:t>SakthiPriya</a:t>
                      </a:r>
                      <a:r>
                        <a:rPr lang="en-IN" sz="1800" kern="1200" dirty="0">
                          <a:solidFill>
                            <a:schemeClr val="dk1"/>
                          </a:solidFill>
                          <a:effectLst/>
                          <a:latin typeface="Times New Roman" panose="02020603050405020304" pitchFamily="18" charset="0"/>
                          <a:ea typeface="+mn-ea"/>
                          <a:cs typeface="Times New Roman" panose="02020603050405020304" pitchFamily="18" charset="0"/>
                        </a:rPr>
                        <a:t> P, </a:t>
                      </a:r>
                      <a:r>
                        <a:rPr lang="en-IN" sz="1800" kern="1200" dirty="0" err="1">
                          <a:solidFill>
                            <a:schemeClr val="dk1"/>
                          </a:solidFill>
                          <a:effectLst/>
                          <a:latin typeface="Times New Roman" panose="02020603050405020304" pitchFamily="18" charset="0"/>
                          <a:ea typeface="+mn-ea"/>
                          <a:cs typeface="Times New Roman" panose="02020603050405020304" pitchFamily="18" charset="0"/>
                        </a:rPr>
                        <a:t>InbaRexy</a:t>
                      </a:r>
                      <a:r>
                        <a:rPr lang="en-IN" sz="1800" kern="1200" dirty="0">
                          <a:solidFill>
                            <a:schemeClr val="dk1"/>
                          </a:solidFill>
                          <a:effectLst/>
                          <a:latin typeface="Times New Roman" panose="02020603050405020304" pitchFamily="18" charset="0"/>
                          <a:ea typeface="+mn-ea"/>
                          <a:cs typeface="Times New Roman" panose="02020603050405020304" pitchFamily="18" charset="0"/>
                        </a:rPr>
                        <a:t> A, Nancy Mary J S</a:t>
                      </a:r>
                      <a:endParaRPr kumimoji="0" lang="en-US" sz="1800" b="0" i="0" u="none" strike="noStrike" kern="1200" cap="none" spc="0" normalizeH="0" baseline="0" noProof="0" dirty="0">
                        <a:ln>
                          <a:noFill/>
                        </a:ln>
                        <a:solidFill>
                          <a:schemeClr val="tx1"/>
                        </a:solidFill>
                        <a:effectLst/>
                        <a:uLnTx/>
                        <a:uFillTx/>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556627">
                <a:tc>
                  <a:txBody>
                    <a:bodyPr/>
                    <a:lstStyle/>
                    <a:p>
                      <a:pPr algn="just"/>
                      <a:endParaRPr lang="en-IN" sz="1900"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defRPr/>
                      </a:pPr>
                      <a:endParaRPr lang="en-IN" altLang="en-US" sz="1900" dirty="0">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428174">
                <a:tc>
                  <a:txBody>
                    <a:bodyPr/>
                    <a:lstStyle/>
                    <a:p>
                      <a:pPr algn="just"/>
                      <a:endParaRPr lang="en-IN" sz="1900" b="0" dirty="0">
                        <a:solidFill>
                          <a:schemeClr val="tx1"/>
                        </a:solidFill>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defRPr/>
                      </a:pPr>
                      <a:endParaRPr lang="en-IN" altLang="en-US" sz="1900" dirty="0">
                        <a:latin typeface="Times New Roman" panose="02020603050405020304" pitchFamily="18" charset="0"/>
                        <a:cs typeface="Times New Roman" panose="02020603050405020304" pitchFamily="18" charset="0"/>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048000" y="2737707"/>
            <a:ext cx="6096000" cy="769441"/>
          </a:xfrm>
          <a:prstGeom prst="rect">
            <a:avLst/>
          </a:prstGeom>
          <a:noFill/>
        </p:spPr>
        <p:txBody>
          <a:bodyPr wrap="square">
            <a:spAutoFit/>
          </a:bodyPr>
          <a:lstStyle/>
          <a:p>
            <a:pPr algn="ctr"/>
            <a:r>
              <a:rPr lang="en-US" sz="4400" b="1" dirty="0">
                <a:latin typeface="Times New Roman" panose="02020603050405020304" pitchFamily="18" charset="0"/>
                <a:cs typeface="Times New Roman" panose="02020603050405020304" pitchFamily="18" charset="0"/>
              </a:rPr>
              <a:t>THANK YOU</a:t>
            </a:r>
            <a:endParaRPr lang="en-IN" sz="4400" b="1"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4472C4"/>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TotalTime>
  <Words>1310</Words>
  <Application>Microsoft Office PowerPoint</Application>
  <PresentationFormat>Widescreen</PresentationFormat>
  <Paragraphs>145</Paragraphs>
  <Slides>17</Slides>
  <Notes>2</Notes>
  <HiddenSlides>0</HiddenSlides>
  <MMClips>0</MMClips>
  <ScaleCrop>false</ScaleCrop>
  <HeadingPairs>
    <vt:vector size="8" baseType="variant">
      <vt:variant>
        <vt:lpstr>Fonts Used</vt:lpstr>
      </vt:variant>
      <vt:variant>
        <vt:i4>5</vt:i4>
      </vt:variant>
      <vt:variant>
        <vt:lpstr>Theme</vt:lpstr>
      </vt:variant>
      <vt:variant>
        <vt:i4>1</vt:i4>
      </vt:variant>
      <vt:variant>
        <vt:lpstr>Slide Titles</vt:lpstr>
      </vt:variant>
      <vt:variant>
        <vt:i4>17</vt:i4>
      </vt:variant>
      <vt:variant>
        <vt:lpstr>Custom Shows</vt:lpstr>
      </vt:variant>
      <vt:variant>
        <vt:i4>1</vt:i4>
      </vt:variant>
    </vt:vector>
  </HeadingPairs>
  <TitlesOfParts>
    <vt:vector size="24" baseType="lpstr">
      <vt:lpstr>Arial</vt:lpstr>
      <vt:lpstr>Calibri</vt:lpstr>
      <vt:lpstr>Calibri Light</vt:lpstr>
      <vt:lpstr>Times New Roman</vt:lpstr>
      <vt:lpstr>Wingdings</vt:lpstr>
      <vt:lpstr>Office Theme</vt:lpstr>
      <vt:lpstr>PowerPoint Presentation</vt:lpstr>
      <vt:lpstr>Presentation Layout</vt:lpstr>
      <vt:lpstr>Abstract</vt:lpstr>
      <vt:lpstr>Introduction</vt:lpstr>
      <vt:lpstr>Problem Statement</vt:lpstr>
      <vt:lpstr>Objective of the Project</vt:lpstr>
      <vt:lpstr>Block Diagram</vt:lpstr>
      <vt:lpstr>Components </vt:lpstr>
      <vt:lpstr>Working of Hybrid System</vt:lpstr>
      <vt:lpstr> </vt:lpstr>
      <vt:lpstr> Results</vt:lpstr>
      <vt:lpstr> </vt:lpstr>
      <vt:lpstr> </vt:lpstr>
      <vt:lpstr>Automatic switching</vt:lpstr>
      <vt:lpstr>Conclusion</vt:lpstr>
      <vt:lpstr>References</vt:lpstr>
      <vt:lpstr>PowerPoint Presentation</vt:lpstr>
      <vt:lpstr>Custom Show 1</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lakshman kumar dangeti</dc:creator>
  <cp:lastModifiedBy>vissa meghana</cp:lastModifiedBy>
  <cp:revision>220</cp:revision>
  <dcterms:created xsi:type="dcterms:W3CDTF">2019-12-04T09:41:00Z</dcterms:created>
  <dcterms:modified xsi:type="dcterms:W3CDTF">2025-12-23T16:41:48Z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9D298B8BD2774D6B8CDB0D37A3251C85_13</vt:lpwstr>
  </property>
  <property fmtid="{D5CDD505-2E9C-101B-9397-08002B2CF9AE}" pid="3" name="KSOProductBuildVer">
    <vt:lpwstr>1033-12.2.0.20323</vt:lpwstr>
  </property>
</Properties>
</file>